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84"/>
  </p:handout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1" r:id="rId52"/>
    <p:sldId id="312" r:id="rId53"/>
    <p:sldId id="313" r:id="rId54"/>
    <p:sldId id="314" r:id="rId55"/>
    <p:sldId id="315" r:id="rId56"/>
    <p:sldId id="316" r:id="rId57"/>
    <p:sldId id="317" r:id="rId58"/>
    <p:sldId id="318" r:id="rId59"/>
    <p:sldId id="319" r:id="rId60"/>
    <p:sldId id="320" r:id="rId61"/>
    <p:sldId id="321" r:id="rId62"/>
    <p:sldId id="322" r:id="rId63"/>
    <p:sldId id="323" r:id="rId64"/>
    <p:sldId id="324" r:id="rId65"/>
    <p:sldId id="325" r:id="rId66"/>
    <p:sldId id="326" r:id="rId67"/>
    <p:sldId id="327" r:id="rId68"/>
    <p:sldId id="328" r:id="rId69"/>
    <p:sldId id="329" r:id="rId70"/>
    <p:sldId id="330" r:id="rId71"/>
    <p:sldId id="331" r:id="rId72"/>
    <p:sldId id="332" r:id="rId73"/>
    <p:sldId id="333" r:id="rId74"/>
    <p:sldId id="334" r:id="rId75"/>
    <p:sldId id="342" r:id="rId76"/>
    <p:sldId id="343" r:id="rId77"/>
    <p:sldId id="344" r:id="rId78"/>
    <p:sldId id="335" r:id="rId79"/>
    <p:sldId id="336" r:id="rId80"/>
    <p:sldId id="339" r:id="rId81"/>
    <p:sldId id="340" r:id="rId82"/>
    <p:sldId id="341" r:id="rId8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8218"/>
    <a:srgbClr val="0488AE"/>
    <a:srgbClr val="E6FCFE"/>
    <a:srgbClr val="DAFBFE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 autoAdjust="0"/>
    <p:restoredTop sz="94712" autoAdjust="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303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1184"/>
    </p:cViewPr>
  </p:sorterViewPr>
  <p:notesViewPr>
    <p:cSldViewPr>
      <p:cViewPr varScale="1">
        <p:scale>
          <a:sx n="56" d="100"/>
          <a:sy n="56" d="100"/>
        </p:scale>
        <p:origin x="-2856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handoutMaster" Target="handoutMasters/handout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FA821C1-72AB-4D3F-9551-5166812740D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DC6F17-CA1B-4183-9FF2-886DFAD5530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BFFF69C-9016-4553-B3B4-9DC5DB827C27}" type="datetimeFigureOut">
              <a:rPr lang="en-US"/>
              <a:pPr>
                <a:defRPr/>
              </a:pPr>
              <a:t>9/16/2020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B7183F-F01E-455E-A489-319AA45370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A1FDC0-15FE-4123-95E7-31D493A676D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4F6BA277-8DD3-492F-B894-9FA9383760E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69B547-2752-4B5C-A71A-6DB5F8B4CC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6175" y="228600"/>
            <a:ext cx="1190625" cy="1487488"/>
          </a:xfrm>
          <a:prstGeom prst="rect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#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446DBC-CD38-4167-BB78-516BFD8E680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934200" y="6245225"/>
            <a:ext cx="1752600" cy="476250"/>
          </a:xfrm>
        </p:spPr>
        <p:txBody>
          <a:bodyPr/>
          <a:lstStyle>
            <a:lvl1pPr>
              <a:defRPr/>
            </a:lvl1pPr>
          </a:lstStyle>
          <a:p>
            <a:fld id="{E936CCC8-2ABE-4AAA-83BE-BFC00754105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1500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FontTx/>
              <a:buBlip>
                <a:blip r:embed="rId2"/>
              </a:buBlip>
              <a:defRPr/>
            </a:lvl1pPr>
            <a:lvl2pPr marL="742950" indent="-285750">
              <a:buFontTx/>
              <a:buBlip>
                <a:blip r:embed="rId2"/>
              </a:buBlip>
              <a:defRPr/>
            </a:lvl2pPr>
            <a:lvl3pPr marL="1143000" indent="-228600">
              <a:buFontTx/>
              <a:buBlip>
                <a:blip r:embed="rId2"/>
              </a:buBlip>
              <a:defRPr/>
            </a:lvl3pPr>
            <a:lvl4pPr marL="1600200" indent="-228600">
              <a:buFontTx/>
              <a:buBlip>
                <a:blip r:embed="rId2"/>
              </a:buBlip>
              <a:defRPr/>
            </a:lvl4pPr>
            <a:lvl5pPr marL="2057400" indent="-228600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E08EA94-704A-43CC-AFD4-161753F9E19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26B791-FF66-4D90-87CD-CEFB2318CEB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8498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C946930-282D-440F-B88F-E68D8C3389B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B5CAEC-1AFD-476C-93C7-13403F6BC0B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1381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8FAF2E7-D98F-4D23-8BAB-914CCDFF03F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D82605-BD07-4DFE-ABA8-701C5CD5DD2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5524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257985-E608-4C6A-8922-34831882F5A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1C92B7-86AA-48DD-A79F-EC1A54FBD66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9279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970B1D1E-A9CC-41A8-8E3E-70D1EBBC895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75D5A9-CC24-43C8-A013-2047F5398AE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3616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84D65B82-41BA-402F-85EA-898B6E75BD4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A362CE-45BA-49A5-AB99-76AA76BEDF6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8706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CBAFC51-4A49-48BC-8876-158CFA8990A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4BAE37-E517-4BFD-9380-2DBDEEFDA10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0881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D6B0239-9F3B-454D-8C1F-54E8A3AD3F2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FC7E18-7B95-444F-B7C0-E1D21A6E018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2031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203366F-43F3-4C00-953B-387548AB520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A8A53E-EB8B-42FD-AB31-E5B0E69BA6E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1839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6D7BB98-6008-4005-8F9E-7751D15D4DA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AEECB4-3C1B-4C47-858E-DD25E96E3F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5931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AE73E65-497A-4165-AF26-DBB1B8C08E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853EAA1-D0ED-4C5E-8263-C20C00898F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A775042-1EF4-4108-AA90-C8A62963569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7F6F46C3-E81A-42C7-AF52-C970DC74E64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29" name="Text Box 14">
            <a:extLst>
              <a:ext uri="{FF2B5EF4-FFF2-40B4-BE49-F238E27FC236}">
                <a16:creationId xmlns:a16="http://schemas.microsoft.com/office/drawing/2014/main" id="{3E4DBD3D-D53A-43F8-88EA-70A6C9C117E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25550" y="6407150"/>
            <a:ext cx="49799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 dirty="0">
                <a:latin typeface="Times New Roman" pitchFamily="18" charset="0"/>
              </a:rPr>
              <a:t>Copyright © 2015, 2012, 2009 Pearson Education, Inc. All rights reserved.</a:t>
            </a: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E872E10D-8B15-4E56-9130-FB96963F35F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394450"/>
            <a:ext cx="998538" cy="30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1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488AE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488AE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488AE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488AE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488AE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FF3300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FF3300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FF3300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FF3300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D6A298-C781-4C89-803A-04E02BB32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609600"/>
            <a:ext cx="4232275" cy="5294313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77FFD1-88D1-457A-8FC6-D1AD31E8DD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3733800" cy="1470025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4400" b="1" dirty="0">
                <a:solidFill>
                  <a:srgbClr val="0488AE"/>
                </a:solidFill>
              </a:rPr>
              <a:t>Chapter 5:</a:t>
            </a:r>
            <a:br>
              <a:rPr lang="en-US" altLang="en-US" sz="3600" b="1" dirty="0"/>
            </a:br>
            <a:r>
              <a:rPr lang="en-US" altLang="en-US" sz="3600" b="1" dirty="0"/>
              <a:t>Loops and Files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6618126-5F45-4972-9ACA-95D8F617FF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The Increment and Decrement</a:t>
            </a:r>
            <a:br>
              <a:rPr lang="en-US" dirty="0"/>
            </a:br>
            <a:r>
              <a:rPr lang="en-US" dirty="0"/>
              <a:t>Operators (1 of 2)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0D91E2AC-0917-45B9-8F08-D64270669A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/>
              <a:t>++ is the increment operator. </a:t>
            </a:r>
            <a:br>
              <a:rPr lang="en-US" altLang="en-US" sz="2800"/>
            </a:br>
            <a:br>
              <a:rPr lang="en-US" altLang="en-US" sz="2800"/>
            </a:br>
            <a:r>
              <a:rPr lang="en-US" altLang="en-US" sz="2800"/>
              <a:t>It adds one to a variable.</a:t>
            </a:r>
            <a:br>
              <a:rPr lang="en-US" altLang="en-US" sz="2800"/>
            </a:br>
            <a:endParaRPr lang="en-US" altLang="en-US" sz="2800"/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val++; </a:t>
            </a:r>
            <a:r>
              <a:rPr lang="en-US" altLang="en-US" sz="2400"/>
              <a:t>is the same as </a:t>
            </a:r>
            <a:r>
              <a:rPr lang="en-US" altLang="en-US" sz="2400">
                <a:latin typeface="Courier New" panose="02070309020205020404" pitchFamily="49" charset="0"/>
              </a:rPr>
              <a:t>val = val + 1;</a:t>
            </a:r>
            <a:br>
              <a:rPr lang="en-US" altLang="en-US" sz="2400">
                <a:latin typeface="Courier New" panose="02070309020205020404" pitchFamily="49" charset="0"/>
              </a:rPr>
            </a:br>
            <a:endParaRPr lang="en-US" altLang="en-US" sz="240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800"/>
              <a:t>++ can be used before (prefix) or after (postfix) a variable: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++val;     val++;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4A6D0-662C-481C-8F9F-F0171021E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The Increment and Decrement</a:t>
            </a:r>
            <a:br>
              <a:rPr lang="en-US" dirty="0"/>
            </a:br>
            <a:r>
              <a:rPr lang="en-US" dirty="0"/>
              <a:t>Operators (2 of 2)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7938BD9C-BEEA-4DB8-8E73-B7E55AF1E3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b="1">
                <a:latin typeface="Courier New" panose="02070309020205020404" pitchFamily="49" charset="0"/>
              </a:rPr>
              <a:t>--</a:t>
            </a:r>
            <a:r>
              <a:rPr lang="en-US" altLang="en-US" sz="2800"/>
              <a:t> is the decrement operator. </a:t>
            </a:r>
            <a:br>
              <a:rPr lang="en-US" altLang="en-US" sz="2800"/>
            </a:br>
            <a:br>
              <a:rPr lang="en-US" altLang="en-US" sz="2800"/>
            </a:br>
            <a:r>
              <a:rPr lang="en-US" altLang="en-US" sz="2800"/>
              <a:t>It subtracts one from a variable.</a:t>
            </a:r>
            <a:br>
              <a:rPr lang="en-US" altLang="en-US" sz="2800"/>
            </a:br>
            <a:endParaRPr lang="en-US" altLang="en-US" sz="2800"/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val--; </a:t>
            </a:r>
            <a:r>
              <a:rPr lang="en-US" altLang="en-US" sz="2400"/>
              <a:t>is the same as </a:t>
            </a:r>
            <a:r>
              <a:rPr lang="en-US" altLang="en-US" sz="2400">
                <a:latin typeface="Courier New" panose="02070309020205020404" pitchFamily="49" charset="0"/>
              </a:rPr>
              <a:t>val = val - 1;</a:t>
            </a:r>
            <a:br>
              <a:rPr lang="en-US" altLang="en-US" sz="2400">
                <a:latin typeface="Courier New" panose="02070309020205020404" pitchFamily="49" charset="0"/>
              </a:rPr>
            </a:br>
            <a:endParaRPr lang="en-US" altLang="en-US" sz="240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800" b="1">
                <a:latin typeface="Courier New" panose="02070309020205020404" pitchFamily="49" charset="0"/>
              </a:rPr>
              <a:t>--</a:t>
            </a:r>
            <a:r>
              <a:rPr lang="en-US" altLang="en-US" sz="2800"/>
              <a:t> can be also used before (prefix) or after (postfix) a variable: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--val;     val--;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80676-6BFA-4A34-BC93-D6FD06224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Increment and Decrement</a:t>
            </a:r>
            <a:br>
              <a:rPr lang="en-US" dirty="0"/>
            </a:br>
            <a:r>
              <a:rPr lang="en-US" dirty="0"/>
              <a:t>Operators in Program 5-1 (1 of 2)</a:t>
            </a:r>
          </a:p>
        </p:txBody>
      </p:sp>
      <p:pic>
        <p:nvPicPr>
          <p:cNvPr id="7171" name="Picture 2" descr="Program 5-1">
            <a:extLst>
              <a:ext uri="{FF2B5EF4-FFF2-40B4-BE49-F238E27FC236}">
                <a16:creationId xmlns:a16="http://schemas.microsoft.com/office/drawing/2014/main" id="{4B2060C0-4675-4AE2-9190-C819D46C81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75" y="1524000"/>
            <a:ext cx="5124450" cy="467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2" name="TextBox 4">
            <a:extLst>
              <a:ext uri="{FF2B5EF4-FFF2-40B4-BE49-F238E27FC236}">
                <a16:creationId xmlns:a16="http://schemas.microsoft.com/office/drawing/2014/main" id="{06935AC8-47FF-4C8F-A1B0-6D1658B584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6019800"/>
            <a:ext cx="1466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Continued…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E5A61-6415-4908-8798-572DCECED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Increment and Decrement</a:t>
            </a:r>
            <a:br>
              <a:rPr lang="en-US" dirty="0"/>
            </a:br>
            <a:r>
              <a:rPr lang="en-US" dirty="0"/>
              <a:t>Operators in Program 5-1 (2 of 2)</a:t>
            </a:r>
          </a:p>
        </p:txBody>
      </p:sp>
      <p:pic>
        <p:nvPicPr>
          <p:cNvPr id="8195" name="Picture 2" descr="Program 5-1 continued with sample output">
            <a:extLst>
              <a:ext uri="{FF2B5EF4-FFF2-40B4-BE49-F238E27FC236}">
                <a16:creationId xmlns:a16="http://schemas.microsoft.com/office/drawing/2014/main" id="{F36CB3EE-636F-4C07-A4B1-32A0DA7DEF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2263" y="1676400"/>
            <a:ext cx="5538787" cy="417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47DBCB85-3046-46A8-9642-149CAC9309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Prefix vs. Postfix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2E65C929-355B-4306-A9D0-2BDB8C4B11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 </a:t>
            </a:r>
            <a:r>
              <a:rPr lang="en-US" altLang="en-US">
                <a:latin typeface="Courier New" panose="02070309020205020404" pitchFamily="49" charset="0"/>
              </a:rPr>
              <a:t>++ </a:t>
            </a:r>
            <a:r>
              <a:rPr lang="en-US" altLang="en-US"/>
              <a:t>and</a:t>
            </a:r>
            <a:r>
              <a:rPr lang="en-US" altLang="en-US">
                <a:latin typeface="Courier New" panose="02070309020205020404" pitchFamily="49" charset="0"/>
              </a:rPr>
              <a:t> --</a:t>
            </a:r>
            <a:r>
              <a:rPr lang="en-US" altLang="en-US"/>
              <a:t> operators can be used in complex statements and expressions</a:t>
            </a:r>
          </a:p>
          <a:p>
            <a:pPr>
              <a:lnSpc>
                <a:spcPct val="90000"/>
              </a:lnSpc>
            </a:pPr>
            <a:r>
              <a:rPr lang="en-US" altLang="en-US"/>
              <a:t>In prefix mode (</a:t>
            </a:r>
            <a:r>
              <a:rPr lang="en-US" altLang="en-US">
                <a:latin typeface="Courier New" panose="02070309020205020404" pitchFamily="49" charset="0"/>
              </a:rPr>
              <a:t>++val, --val</a:t>
            </a:r>
            <a:r>
              <a:rPr lang="en-US" altLang="en-US"/>
              <a:t>) the operator increments or decrements, </a:t>
            </a:r>
            <a:r>
              <a:rPr lang="en-US" altLang="en-US" i="1"/>
              <a:t>then</a:t>
            </a:r>
            <a:r>
              <a:rPr lang="en-US" altLang="en-US"/>
              <a:t> returns the value of the variable</a:t>
            </a:r>
          </a:p>
          <a:p>
            <a:pPr>
              <a:lnSpc>
                <a:spcPct val="90000"/>
              </a:lnSpc>
            </a:pPr>
            <a:r>
              <a:rPr lang="en-US" altLang="en-US"/>
              <a:t>In postfix mode (</a:t>
            </a:r>
            <a:r>
              <a:rPr lang="en-US" altLang="en-US">
                <a:latin typeface="Courier New" panose="02070309020205020404" pitchFamily="49" charset="0"/>
              </a:rPr>
              <a:t>val++, val--</a:t>
            </a:r>
            <a:r>
              <a:rPr lang="en-US" altLang="en-US"/>
              <a:t>) the operator returns the value of the variable, </a:t>
            </a:r>
            <a:r>
              <a:rPr lang="en-US" altLang="en-US" i="1"/>
              <a:t>then</a:t>
            </a:r>
            <a:r>
              <a:rPr lang="en-US" altLang="en-US"/>
              <a:t> increments or decrements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145E9F61-C6CB-44A3-BB1F-6BD152F6CE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Prefix vs. Postfix - Examples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DD358DAF-1BF3-4005-A943-B422E89F56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5000"/>
              </a:lnSpc>
              <a:buFont typeface="Times" panose="02020603050405020304" pitchFamily="18" charset="0"/>
              <a:buNone/>
            </a:pP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int num, 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12;</a:t>
            </a:r>
          </a:p>
          <a:p>
            <a:pPr>
              <a:lnSpc>
                <a:spcPct val="85000"/>
              </a:lnSpc>
              <a:buFont typeface="Times" panose="02020603050405020304" pitchFamily="18" charset="0"/>
              <a:buNone/>
            </a:pP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++; // displays 12, </a:t>
            </a:r>
          </a:p>
          <a:p>
            <a:pPr>
              <a:lnSpc>
                <a:spcPct val="85000"/>
              </a:lnSpc>
              <a:buFont typeface="Times" panose="02020603050405020304" pitchFamily="18" charset="0"/>
              <a:buNone/>
            </a:pP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		    // 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is now 13;</a:t>
            </a:r>
          </a:p>
          <a:p>
            <a:pPr>
              <a:lnSpc>
                <a:spcPct val="85000"/>
              </a:lnSpc>
              <a:buFont typeface="Times" panose="02020603050405020304" pitchFamily="18" charset="0"/>
              <a:buNone/>
            </a:pP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++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; // sets 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to 14,</a:t>
            </a:r>
          </a:p>
          <a:p>
            <a:pPr>
              <a:lnSpc>
                <a:spcPct val="85000"/>
              </a:lnSpc>
              <a:buFont typeface="Times" panose="02020603050405020304" pitchFamily="18" charset="0"/>
              <a:buNone/>
            </a:pP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// then displays it</a:t>
            </a:r>
          </a:p>
          <a:p>
            <a:pPr>
              <a:lnSpc>
                <a:spcPct val="85000"/>
              </a:lnSpc>
              <a:buFont typeface="Times" panose="02020603050405020304" pitchFamily="18" charset="0"/>
              <a:buNone/>
            </a:pP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num = --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;   // sets 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to 13,</a:t>
            </a:r>
          </a:p>
          <a:p>
            <a:pPr>
              <a:lnSpc>
                <a:spcPct val="85000"/>
              </a:lnSpc>
              <a:buFont typeface="Times" panose="02020603050405020304" pitchFamily="18" charset="0"/>
              <a:buNone/>
            </a:pP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		    // stores 13 in num</a:t>
            </a:r>
          </a:p>
          <a:p>
            <a:pPr>
              <a:lnSpc>
                <a:spcPct val="85000"/>
              </a:lnSpc>
              <a:buFont typeface="Times" panose="02020603050405020304" pitchFamily="18" charset="0"/>
              <a:buNone/>
            </a:pP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num = 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--;   // stores 13 in num,</a:t>
            </a:r>
          </a:p>
          <a:p>
            <a:pPr>
              <a:lnSpc>
                <a:spcPct val="85000"/>
              </a:lnSpc>
              <a:buFont typeface="Times" panose="02020603050405020304" pitchFamily="18" charset="0"/>
              <a:buNone/>
            </a:pP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		     // sets 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to 12</a:t>
            </a:r>
          </a:p>
          <a:p>
            <a:pPr>
              <a:lnSpc>
                <a:spcPct val="85000"/>
              </a:lnSpc>
              <a:buFont typeface="Times" panose="02020603050405020304" pitchFamily="18" charset="0"/>
              <a:buNone/>
            </a:pPr>
            <a:endParaRPr lang="en-US" alt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9BB9D-0CD9-4DBD-BB17-64FB3EE19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Notes on Increment and Decrement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E8E00CAC-C0AA-46C6-BD76-CFF5A7D434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/>
              <a:t>Can be used in expressions:</a:t>
            </a:r>
          </a:p>
          <a:p>
            <a:pPr lvl="1">
              <a:buFontTx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	result = num1++ + --num2;</a:t>
            </a:r>
          </a:p>
          <a:p>
            <a:r>
              <a:rPr lang="en-US" altLang="en-US" sz="2800"/>
              <a:t>Must be applied to something that has a location in memory. Cannot have:</a:t>
            </a:r>
          </a:p>
          <a:p>
            <a:pPr lvl="1">
              <a:buFontTx/>
              <a:buNone/>
            </a:pPr>
            <a:r>
              <a:rPr lang="en-US" altLang="en-US" sz="2400"/>
              <a:t>	</a:t>
            </a:r>
            <a:r>
              <a:rPr lang="en-US" altLang="en-US" sz="2400">
                <a:latin typeface="Courier New" panose="02070309020205020404" pitchFamily="49" charset="0"/>
              </a:rPr>
              <a:t>result = (num1 + num2)++;</a:t>
            </a:r>
          </a:p>
          <a:p>
            <a:r>
              <a:rPr lang="en-US" altLang="en-US" sz="2800"/>
              <a:t>Can be used in relational expressions:</a:t>
            </a:r>
          </a:p>
          <a:p>
            <a:pPr lvl="1">
              <a:buClr>
                <a:schemeClr val="tx1"/>
              </a:buClr>
              <a:buFontTx/>
              <a:buNone/>
            </a:pPr>
            <a:r>
              <a:rPr lang="en-US" altLang="en-US" sz="2400"/>
              <a:t>	</a:t>
            </a:r>
            <a:r>
              <a:rPr lang="en-US" altLang="en-US" sz="2400">
                <a:latin typeface="Courier New" panose="02070309020205020404" pitchFamily="49" charset="0"/>
              </a:rPr>
              <a:t>if (++num &gt; limit)</a:t>
            </a:r>
          </a:p>
          <a:p>
            <a:pPr lvl="1">
              <a:buClr>
                <a:schemeClr val="tx1"/>
              </a:buClr>
              <a:buFontTx/>
              <a:buNone/>
            </a:pPr>
            <a:r>
              <a:rPr lang="en-US" altLang="en-US" sz="2400"/>
              <a:t>	pre- and post-operations will cause different comparisons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BA8B1A89-0166-45D4-9E33-3D6E05DF315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5.2</a:t>
            </a:r>
          </a:p>
        </p:txBody>
      </p:sp>
      <p:sp>
        <p:nvSpPr>
          <p:cNvPr id="12291" name="Subtitle 2">
            <a:extLst>
              <a:ext uri="{FF2B5EF4-FFF2-40B4-BE49-F238E27FC236}">
                <a16:creationId xmlns:a16="http://schemas.microsoft.com/office/drawing/2014/main" id="{F4EF41F2-E23C-4FBC-93C0-8C293224032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Introduction to Loops: 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altLang="en-US" dirty="0"/>
              <a:t> Loop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6A4683B8-E515-4BBA-B0E2-86701EFEE9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Introduction to Loops: </a:t>
            </a:r>
            <a:br>
              <a:rPr lang="en-US" altLang="en-US"/>
            </a:br>
            <a:r>
              <a:rPr lang="en-US" altLang="en-US"/>
              <a:t>The </a:t>
            </a:r>
            <a:r>
              <a:rPr lang="en-US" altLang="en-US">
                <a:latin typeface="Courier New" panose="02070309020205020404" pitchFamily="49" charset="0"/>
              </a:rPr>
              <a:t>while</a:t>
            </a:r>
            <a:r>
              <a:rPr lang="en-US" altLang="en-US"/>
              <a:t> Loop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E32265C0-59EA-40FC-86D3-95822F2E35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u="sng"/>
              <a:t>Loop</a:t>
            </a:r>
            <a:r>
              <a:rPr lang="en-US" altLang="en-US"/>
              <a:t>: a control structure that causes a statement or statements to repeat</a:t>
            </a:r>
          </a:p>
          <a:p>
            <a:r>
              <a:rPr lang="en-US" altLang="en-US"/>
              <a:t> General format of the </a:t>
            </a:r>
            <a:r>
              <a:rPr lang="en-US" altLang="en-US">
                <a:latin typeface="Courier New" panose="02070309020205020404" pitchFamily="49" charset="0"/>
              </a:rPr>
              <a:t>while</a:t>
            </a:r>
            <a:r>
              <a:rPr lang="en-US" altLang="en-US"/>
              <a:t> loop:</a:t>
            </a:r>
          </a:p>
          <a:p>
            <a:pPr lvl="1">
              <a:buFontTx/>
              <a:buNone/>
            </a:pPr>
            <a:r>
              <a:rPr lang="en-US" altLang="en-US"/>
              <a:t>	</a:t>
            </a:r>
            <a:r>
              <a:rPr lang="en-US" altLang="en-US">
                <a:latin typeface="Courier New" panose="02070309020205020404" pitchFamily="49" charset="0"/>
              </a:rPr>
              <a:t>while (</a:t>
            </a:r>
            <a:r>
              <a:rPr lang="en-US" altLang="en-US" i="1">
                <a:latin typeface="Courier New" panose="02070309020205020404" pitchFamily="49" charset="0"/>
              </a:rPr>
              <a:t>expression</a:t>
            </a:r>
            <a:r>
              <a:rPr lang="en-US" altLang="en-US">
                <a:latin typeface="Courier New" panose="02070309020205020404" pitchFamily="49" charset="0"/>
              </a:rPr>
              <a:t>)</a:t>
            </a:r>
          </a:p>
          <a:p>
            <a:pPr lvl="1"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	   </a:t>
            </a:r>
            <a:r>
              <a:rPr lang="en-US" altLang="en-US" i="1">
                <a:latin typeface="Courier New" panose="02070309020205020404" pitchFamily="49" charset="0"/>
              </a:rPr>
              <a:t>statement</a:t>
            </a:r>
            <a:r>
              <a:rPr lang="en-US" altLang="en-US">
                <a:latin typeface="Courier New" panose="02070309020205020404" pitchFamily="49" charset="0"/>
              </a:rPr>
              <a:t>;</a:t>
            </a:r>
            <a:endParaRPr lang="en-US" altLang="en-US"/>
          </a:p>
          <a:p>
            <a:r>
              <a:rPr lang="en-US" altLang="en-US"/>
              <a:t> </a:t>
            </a:r>
            <a:r>
              <a:rPr lang="en-US" altLang="en-US" i="1">
                <a:latin typeface="Courier New" panose="02070309020205020404" pitchFamily="49" charset="0"/>
              </a:rPr>
              <a:t>statement</a:t>
            </a:r>
            <a:r>
              <a:rPr lang="en-US" altLang="en-US">
                <a:latin typeface="Courier New" panose="02070309020205020404" pitchFamily="49" charset="0"/>
              </a:rPr>
              <a:t>;</a:t>
            </a:r>
            <a:r>
              <a:rPr lang="en-US" altLang="en-US"/>
              <a:t> can also be a block of statements enclosed in </a:t>
            </a:r>
            <a:r>
              <a:rPr lang="en-US" altLang="en-US">
                <a:latin typeface="Courier New" panose="02070309020205020404" pitchFamily="49" charset="0"/>
              </a:rPr>
              <a:t>{ }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4824F-1EE8-4A08-B943-D5795AAFC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The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dirty="0"/>
              <a:t> Loop – How It Works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CD51FCD1-1476-46E9-A197-5D9F6F342E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>
              <a:buClr>
                <a:srgbClr val="3333CC"/>
              </a:buClr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while (</a:t>
            </a:r>
            <a:r>
              <a:rPr lang="en-US" altLang="en-US" i="1">
                <a:latin typeface="Courier New" panose="02070309020205020404" pitchFamily="49" charset="0"/>
              </a:rPr>
              <a:t>expression</a:t>
            </a:r>
            <a:r>
              <a:rPr lang="en-US" altLang="en-US">
                <a:latin typeface="Courier New" panose="02070309020205020404" pitchFamily="49" charset="0"/>
              </a:rPr>
              <a:t>)</a:t>
            </a:r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altLang="en-US">
                <a:latin typeface="Courier New" panose="02070309020205020404" pitchFamily="49" charset="0"/>
              </a:rPr>
              <a:t>		   </a:t>
            </a:r>
            <a:r>
              <a:rPr lang="en-US" altLang="en-US" i="1">
                <a:latin typeface="Courier New" panose="02070309020205020404" pitchFamily="49" charset="0"/>
              </a:rPr>
              <a:t>statement</a:t>
            </a:r>
            <a:r>
              <a:rPr lang="en-US" altLang="en-US">
                <a:latin typeface="Courier New" panose="02070309020205020404" pitchFamily="49" charset="0"/>
              </a:rPr>
              <a:t>;</a:t>
            </a:r>
            <a:endParaRPr lang="en-US" altLang="en-US"/>
          </a:p>
          <a:p>
            <a:r>
              <a:rPr lang="en-US" altLang="en-US"/>
              <a:t> </a:t>
            </a:r>
            <a:r>
              <a:rPr lang="en-US" altLang="en-US" i="1">
                <a:latin typeface="Courier New" panose="02070309020205020404" pitchFamily="49" charset="0"/>
              </a:rPr>
              <a:t>expression</a:t>
            </a:r>
            <a:r>
              <a:rPr lang="en-US" altLang="en-US"/>
              <a:t> is evaluated</a:t>
            </a:r>
          </a:p>
          <a:p>
            <a:pPr lvl="1"/>
            <a:r>
              <a:rPr lang="en-US" altLang="en-US"/>
              <a:t>if </a:t>
            </a:r>
            <a:r>
              <a:rPr lang="en-US" altLang="en-US">
                <a:latin typeface="Courier New" panose="02070309020205020404" pitchFamily="49" charset="0"/>
              </a:rPr>
              <a:t>true</a:t>
            </a:r>
            <a:r>
              <a:rPr lang="en-US" altLang="en-US"/>
              <a:t>, then </a:t>
            </a:r>
            <a:r>
              <a:rPr lang="en-US" altLang="en-US" i="1">
                <a:latin typeface="Courier New" panose="02070309020205020404" pitchFamily="49" charset="0"/>
              </a:rPr>
              <a:t>statement</a:t>
            </a:r>
            <a:r>
              <a:rPr lang="en-US" altLang="en-US"/>
              <a:t> is executed, and </a:t>
            </a:r>
            <a:r>
              <a:rPr lang="en-US" altLang="en-US" i="1">
                <a:latin typeface="Courier New" panose="02070309020205020404" pitchFamily="49" charset="0"/>
              </a:rPr>
              <a:t>expression</a:t>
            </a:r>
            <a:r>
              <a:rPr lang="en-US" altLang="en-US"/>
              <a:t> is evaluated again</a:t>
            </a:r>
          </a:p>
          <a:p>
            <a:pPr lvl="1"/>
            <a:r>
              <a:rPr lang="en-US" altLang="en-US"/>
              <a:t>if </a:t>
            </a:r>
            <a:r>
              <a:rPr lang="en-US" altLang="en-US">
                <a:latin typeface="Courier New" panose="02070309020205020404" pitchFamily="49" charset="0"/>
              </a:rPr>
              <a:t>false</a:t>
            </a:r>
            <a:r>
              <a:rPr lang="en-US" altLang="en-US"/>
              <a:t>, then the loop is finished and program statements following </a:t>
            </a:r>
            <a:r>
              <a:rPr lang="en-US" altLang="en-US" i="1">
                <a:latin typeface="Courier New" panose="02070309020205020404" pitchFamily="49" charset="0"/>
              </a:rPr>
              <a:t>statement</a:t>
            </a:r>
            <a:r>
              <a:rPr lang="en-US" altLang="en-US"/>
              <a:t> execute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B9B6D000-A01C-4CB6-9CF3-E812328A77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Logic of a </a:t>
            </a:r>
            <a:r>
              <a:rPr lang="en-US" altLang="en-US" dirty="0">
                <a:latin typeface="Courier New" panose="02070309020205020404" pitchFamily="49" charset="0"/>
              </a:rPr>
              <a:t>while</a:t>
            </a:r>
            <a:r>
              <a:rPr lang="en-US" altLang="en-US" dirty="0"/>
              <a:t> Loop</a:t>
            </a:r>
          </a:p>
        </p:txBody>
      </p:sp>
      <p:pic>
        <p:nvPicPr>
          <p:cNvPr id="15363" name="Picture 3" descr="Figure 5-1 Logic of a while loop">
            <a:extLst>
              <a:ext uri="{FF2B5EF4-FFF2-40B4-BE49-F238E27FC236}">
                <a16:creationId xmlns:a16="http://schemas.microsoft.com/office/drawing/2014/main" id="{A6294C4C-0C8D-44B4-BDA4-C5B0FC5475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0" y="2133600"/>
            <a:ext cx="4191000" cy="333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F51FAB02-D67B-4BD7-B345-2AC888B8A1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altLang="en-US"/>
              <a:t> loop in Program 5-3</a:t>
            </a:r>
          </a:p>
        </p:txBody>
      </p:sp>
      <p:pic>
        <p:nvPicPr>
          <p:cNvPr id="16387" name="Picture 2" descr="Program 5-3 with sample output">
            <a:extLst>
              <a:ext uri="{FF2B5EF4-FFF2-40B4-BE49-F238E27FC236}">
                <a16:creationId xmlns:a16="http://schemas.microsoft.com/office/drawing/2014/main" id="{395CCF37-450B-47CC-A351-35EB62628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600200"/>
            <a:ext cx="4862513" cy="448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33A84-B23F-4382-9350-A9B703D4B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How the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dirty="0"/>
              <a:t> Loop in Program 5-3 Lines 9 through 13 Works </a:t>
            </a:r>
          </a:p>
        </p:txBody>
      </p:sp>
      <p:pic>
        <p:nvPicPr>
          <p:cNvPr id="17411" name="Picture 3" descr="Figure 5-2 Actions in the while loop">
            <a:extLst>
              <a:ext uri="{FF2B5EF4-FFF2-40B4-BE49-F238E27FC236}">
                <a16:creationId xmlns:a16="http://schemas.microsoft.com/office/drawing/2014/main" id="{3784F742-CF9A-4775-9D77-2D1EC5F9B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700" y="2286000"/>
            <a:ext cx="5562600" cy="257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212C0-AB89-49DC-B5EE-4858D63A7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Flowchart of the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dirty="0"/>
              <a:t> Loop in Program 5-3</a:t>
            </a:r>
          </a:p>
        </p:txBody>
      </p:sp>
      <p:pic>
        <p:nvPicPr>
          <p:cNvPr id="18435" name="Picture 3" descr="Figure 5-3 Flowchart for the while loop">
            <a:extLst>
              <a:ext uri="{FF2B5EF4-FFF2-40B4-BE49-F238E27FC236}">
                <a16:creationId xmlns:a16="http://schemas.microsoft.com/office/drawing/2014/main" id="{A44E1CDE-F74C-4E73-A12A-551549EE45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209800"/>
            <a:ext cx="6248400" cy="313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B8EC6-5446-47BF-9091-337B2C0A7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The </a:t>
            </a:r>
            <a:r>
              <a:rPr lang="en-US" dirty="0">
                <a:latin typeface="Courier New" pitchFamily="-16" charset="0"/>
              </a:rPr>
              <a:t>while</a:t>
            </a:r>
            <a:r>
              <a:rPr lang="en-US" dirty="0"/>
              <a:t> Loop is a Pretest Loop</a:t>
            </a:r>
          </a:p>
        </p:txBody>
      </p:sp>
      <p:sp>
        <p:nvSpPr>
          <p:cNvPr id="19459" name="Rectangle 3" descr="Code snippet showing how expression is evaluated before the loop executes">
            <a:extLst>
              <a:ext uri="{FF2B5EF4-FFF2-40B4-BE49-F238E27FC236}">
                <a16:creationId xmlns:a16="http://schemas.microsoft.com/office/drawing/2014/main" id="{5FA66986-30DB-4EB0-B485-EE20C78BA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371600"/>
            <a:ext cx="7010400" cy="453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i="1" dirty="0">
                <a:latin typeface="Courier New" panose="02070309020205020404" pitchFamily="49" charset="0"/>
              </a:rPr>
              <a:t>expression</a:t>
            </a:r>
            <a:r>
              <a:rPr lang="en-US" altLang="en-US" dirty="0"/>
              <a:t> is evaluated </a:t>
            </a:r>
            <a:r>
              <a:rPr lang="en-US" altLang="en-US" i="1" dirty="0"/>
              <a:t>before</a:t>
            </a:r>
            <a:r>
              <a:rPr lang="en-US" altLang="en-US" dirty="0"/>
              <a:t> the loop executes. The following loop will never execute: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>
                <a:latin typeface="Courier New" panose="02070309020205020404" pitchFamily="49" charset="0"/>
              </a:rPr>
              <a:t>int number = 6;</a:t>
            </a:r>
            <a:br>
              <a:rPr lang="en-US" altLang="en-US" dirty="0">
                <a:latin typeface="Courier New" panose="02070309020205020404" pitchFamily="49" charset="0"/>
              </a:rPr>
            </a:br>
            <a:r>
              <a:rPr lang="en-US" altLang="en-US" dirty="0">
                <a:latin typeface="Courier New" panose="02070309020205020404" pitchFamily="49" charset="0"/>
              </a:rPr>
              <a:t>while (number &lt;= 5)</a:t>
            </a:r>
            <a:br>
              <a:rPr lang="en-US" altLang="en-US" dirty="0">
                <a:latin typeface="Courier New" panose="02070309020205020404" pitchFamily="49" charset="0"/>
              </a:rPr>
            </a:br>
            <a:r>
              <a:rPr lang="en-US" altLang="en-US" dirty="0">
                <a:latin typeface="Courier New" panose="02070309020205020404" pitchFamily="49" charset="0"/>
              </a:rPr>
              <a:t>{</a:t>
            </a:r>
            <a:br>
              <a:rPr lang="en-US" altLang="en-US" dirty="0">
                <a:latin typeface="Courier New" panose="02070309020205020404" pitchFamily="49" charset="0"/>
              </a:rPr>
            </a:br>
            <a:r>
              <a:rPr lang="en-US" altLang="en-US" dirty="0">
                <a:latin typeface="Courier New" panose="02070309020205020404" pitchFamily="49" charset="0"/>
              </a:rPr>
              <a:t>   </a:t>
            </a:r>
            <a:r>
              <a:rPr lang="en-US" altLang="en-US" dirty="0" err="1">
                <a:latin typeface="Courier New" panose="02070309020205020404" pitchFamily="49" charset="0"/>
              </a:rPr>
              <a:t>cout</a:t>
            </a:r>
            <a:r>
              <a:rPr lang="en-US" altLang="en-US" dirty="0">
                <a:latin typeface="Courier New" panose="02070309020205020404" pitchFamily="49" charset="0"/>
              </a:rPr>
              <a:t> &lt;&lt; "Hello\n";</a:t>
            </a:r>
            <a:br>
              <a:rPr lang="en-US" altLang="en-US" dirty="0">
                <a:latin typeface="Courier New" panose="02070309020205020404" pitchFamily="49" charset="0"/>
              </a:rPr>
            </a:br>
            <a:r>
              <a:rPr lang="en-US" altLang="en-US" dirty="0">
                <a:latin typeface="Courier New" panose="02070309020205020404" pitchFamily="49" charset="0"/>
              </a:rPr>
              <a:t>   number++;</a:t>
            </a:r>
            <a:br>
              <a:rPr lang="en-US" altLang="en-US" dirty="0">
                <a:latin typeface="Courier New" panose="02070309020205020404" pitchFamily="49" charset="0"/>
              </a:rPr>
            </a:br>
            <a:r>
              <a:rPr lang="en-US" altLang="en-US" dirty="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2BACFCA0-3279-4F77-B8C4-A5130C9FD7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Watch Out for Infinite Loops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7BFFF671-2530-43C2-9CC4-F5FB525640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The loop must contain code to make </a:t>
            </a:r>
            <a:r>
              <a:rPr lang="en-US" altLang="en-US" i="1">
                <a:latin typeface="Courier New" panose="02070309020205020404" pitchFamily="49" charset="0"/>
              </a:rPr>
              <a:t>expression</a:t>
            </a:r>
            <a:r>
              <a:rPr lang="en-US" altLang="en-US"/>
              <a:t> become </a:t>
            </a:r>
            <a:r>
              <a:rPr lang="en-US" altLang="en-US">
                <a:latin typeface="Courier New" panose="02070309020205020404" pitchFamily="49" charset="0"/>
              </a:rPr>
              <a:t>false</a:t>
            </a:r>
          </a:p>
          <a:p>
            <a:r>
              <a:rPr lang="en-US" altLang="en-US"/>
              <a:t>Otherwise, the loop will have no way of stopping</a:t>
            </a:r>
          </a:p>
          <a:p>
            <a:r>
              <a:rPr lang="en-US" altLang="en-US"/>
              <a:t>Such a loop is called an </a:t>
            </a:r>
            <a:r>
              <a:rPr lang="en-US" altLang="en-US" i="1"/>
              <a:t>infinite loop</a:t>
            </a:r>
            <a:r>
              <a:rPr lang="en-US" altLang="en-US"/>
              <a:t>, because it will repeat an infinite number of times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EC73FF62-74A0-4BB5-AB4F-A8E445AFE0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of an Infinite Loop</a:t>
            </a:r>
          </a:p>
        </p:txBody>
      </p:sp>
      <p:sp>
        <p:nvSpPr>
          <p:cNvPr id="21507" name="Rectangle 3" descr="Example of an infinite loop">
            <a:extLst>
              <a:ext uri="{FF2B5EF4-FFF2-40B4-BE49-F238E27FC236}">
                <a16:creationId xmlns:a16="http://schemas.microsoft.com/office/drawing/2014/main" id="{623CD4F3-6E97-438A-BE15-384A32A06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151063"/>
            <a:ext cx="6248400" cy="255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dirty="0">
                <a:latin typeface="Courier New" panose="02070309020205020404" pitchFamily="49" charset="0"/>
              </a:rPr>
              <a:t>int number = 1;</a:t>
            </a:r>
            <a:br>
              <a:rPr lang="en-US" altLang="en-US" dirty="0">
                <a:latin typeface="Courier New" panose="02070309020205020404" pitchFamily="49" charset="0"/>
              </a:rPr>
            </a:br>
            <a:r>
              <a:rPr lang="en-US" altLang="en-US" dirty="0">
                <a:latin typeface="Courier New" panose="02070309020205020404" pitchFamily="49" charset="0"/>
              </a:rPr>
              <a:t>while (number &lt;= 5)</a:t>
            </a:r>
            <a:br>
              <a:rPr lang="en-US" altLang="en-US" dirty="0">
                <a:latin typeface="Courier New" panose="02070309020205020404" pitchFamily="49" charset="0"/>
              </a:rPr>
            </a:br>
            <a:r>
              <a:rPr lang="en-US" altLang="en-US" dirty="0">
                <a:latin typeface="Courier New" panose="02070309020205020404" pitchFamily="49" charset="0"/>
              </a:rPr>
              <a:t>{</a:t>
            </a:r>
            <a:br>
              <a:rPr lang="en-US" altLang="en-US" dirty="0">
                <a:latin typeface="Courier New" panose="02070309020205020404" pitchFamily="49" charset="0"/>
              </a:rPr>
            </a:br>
            <a:r>
              <a:rPr lang="en-US" altLang="en-US" dirty="0">
                <a:latin typeface="Courier New" panose="02070309020205020404" pitchFamily="49" charset="0"/>
              </a:rPr>
              <a:t>   </a:t>
            </a:r>
            <a:r>
              <a:rPr lang="en-US" altLang="en-US" dirty="0" err="1">
                <a:latin typeface="Courier New" panose="02070309020205020404" pitchFamily="49" charset="0"/>
              </a:rPr>
              <a:t>cout</a:t>
            </a:r>
            <a:r>
              <a:rPr lang="en-US" altLang="en-US" dirty="0">
                <a:latin typeface="Courier New" panose="02070309020205020404" pitchFamily="49" charset="0"/>
              </a:rPr>
              <a:t> &lt;&lt; "Hello\n";</a:t>
            </a:r>
            <a:br>
              <a:rPr lang="en-US" altLang="en-US" dirty="0">
                <a:latin typeface="Courier New" panose="02070309020205020404" pitchFamily="49" charset="0"/>
              </a:rPr>
            </a:br>
            <a:r>
              <a:rPr lang="en-US" altLang="en-US" dirty="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D693EFB8-E5EC-4AF9-A683-F79A9CAB2B8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5.3</a:t>
            </a:r>
          </a:p>
        </p:txBody>
      </p:sp>
      <p:sp>
        <p:nvSpPr>
          <p:cNvPr id="22531" name="Subtitle 2">
            <a:extLst>
              <a:ext uri="{FF2B5EF4-FFF2-40B4-BE49-F238E27FC236}">
                <a16:creationId xmlns:a16="http://schemas.microsoft.com/office/drawing/2014/main" id="{68C16108-7B04-46ED-BD13-D77CBC9E1A8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/>
              <a:t>Using the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altLang="en-US"/>
              <a:t> Loop for Input Validation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5C93-B680-4D48-98A6-F2EBF6A81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2800" dirty="0"/>
              <a:t>Using the </a:t>
            </a:r>
            <a:r>
              <a:rPr lang="en-US" sz="2800" dirty="0">
                <a:latin typeface="Courier New" pitchFamily="-16" charset="0"/>
              </a:rPr>
              <a:t>while</a:t>
            </a:r>
            <a:r>
              <a:rPr lang="en-US" sz="2800" dirty="0"/>
              <a:t> Loop for Input Validation (1 of 2)</a:t>
            </a: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D69ABAA2-B051-4AB9-A88F-AFFA8816F0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Input validation is the process of inspecting data that is given to the program as input and determining whether it is valid.</a:t>
            </a:r>
            <a:br>
              <a:rPr lang="en-US" altLang="en-US"/>
            </a:br>
            <a:endParaRPr lang="en-US" altLang="en-US"/>
          </a:p>
          <a:p>
            <a:r>
              <a:rPr lang="en-US" altLang="en-US"/>
              <a:t>The while loop can be used to create input routines that reject invalid data, and repeat until valid data is entered.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DBB4C-8062-47C2-B00D-05B89B43D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2800" dirty="0"/>
              <a:t>Using the </a:t>
            </a:r>
            <a:r>
              <a:rPr lang="en-US" sz="2800" dirty="0">
                <a:latin typeface="Courier New" pitchFamily="-16" charset="0"/>
              </a:rPr>
              <a:t>while</a:t>
            </a:r>
            <a:r>
              <a:rPr lang="en-US" sz="2800" dirty="0"/>
              <a:t> Loop for Input Validation (2 of 2)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7EAA6A04-6C11-47BB-9191-74698A84A6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Here's the general approach, in pseudocode:</a:t>
            </a:r>
          </a:p>
          <a:p>
            <a:endParaRPr lang="en-US" altLang="en-US"/>
          </a:p>
        </p:txBody>
      </p:sp>
      <p:sp>
        <p:nvSpPr>
          <p:cNvPr id="24580" name="Rectangle 3" descr="pseudocode for while loop input validation">
            <a:extLst>
              <a:ext uri="{FF2B5EF4-FFF2-40B4-BE49-F238E27FC236}">
                <a16:creationId xmlns:a16="http://schemas.microsoft.com/office/drawing/2014/main" id="{C46A6254-68FE-4824-A257-B036844CE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9300" y="2971800"/>
            <a:ext cx="5105400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Read an item of input.</a:t>
            </a:r>
            <a:br>
              <a:rPr lang="en-US" altLang="en-US" i="1" dirty="0">
                <a:latin typeface="Times New Roman" panose="02020603050405020304" pitchFamily="18" charset="0"/>
              </a:rPr>
            </a:br>
            <a:r>
              <a:rPr lang="en-US" altLang="en-US" i="1" dirty="0">
                <a:latin typeface="Times New Roman" panose="02020603050405020304" pitchFamily="18" charset="0"/>
              </a:rPr>
              <a:t>While the input is invalid</a:t>
            </a:r>
            <a:br>
              <a:rPr lang="en-US" altLang="en-US" i="1" dirty="0">
                <a:latin typeface="Times New Roman" panose="02020603050405020304" pitchFamily="18" charset="0"/>
              </a:rPr>
            </a:br>
            <a:r>
              <a:rPr lang="en-US" altLang="en-US" i="1" dirty="0">
                <a:latin typeface="Times New Roman" panose="02020603050405020304" pitchFamily="18" charset="0"/>
              </a:rPr>
              <a:t>     Display an error message.</a:t>
            </a:r>
            <a:br>
              <a:rPr lang="en-US" altLang="en-US" i="1" dirty="0">
                <a:latin typeface="Times New Roman" panose="02020603050405020304" pitchFamily="18" charset="0"/>
              </a:rPr>
            </a:br>
            <a:r>
              <a:rPr lang="en-US" altLang="en-US" i="1" dirty="0">
                <a:latin typeface="Times New Roman" panose="02020603050405020304" pitchFamily="18" charset="0"/>
              </a:rPr>
              <a:t>     Read the input again.</a:t>
            </a:r>
            <a:br>
              <a:rPr lang="en-US" altLang="en-US" i="1" dirty="0">
                <a:latin typeface="Times New Roman" panose="02020603050405020304" pitchFamily="18" charset="0"/>
              </a:rPr>
            </a:br>
            <a:r>
              <a:rPr lang="en-US" altLang="en-US" i="1" dirty="0">
                <a:latin typeface="Times New Roman" panose="02020603050405020304" pitchFamily="18" charset="0"/>
              </a:rPr>
              <a:t>End While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FB76718A-5EA6-41D8-86A6-2B60E0D195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Input Validation Example</a:t>
            </a:r>
          </a:p>
        </p:txBody>
      </p:sp>
      <p:sp>
        <p:nvSpPr>
          <p:cNvPr id="25603" name="Text Box 3" descr="Input validation example">
            <a:extLst>
              <a:ext uri="{FF2B5EF4-FFF2-40B4-BE49-F238E27FC236}">
                <a16:creationId xmlns:a16="http://schemas.microsoft.com/office/drawing/2014/main" id="{06E2643C-0AD8-4945-B968-F598E345F8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09800"/>
            <a:ext cx="8229600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 err="1">
                <a:latin typeface="Courier New" panose="02070309020205020404" pitchFamily="49" charset="0"/>
              </a:rPr>
              <a:t>cout</a:t>
            </a:r>
            <a:r>
              <a:rPr lang="en-US" altLang="en-US" sz="2400" dirty="0">
                <a:latin typeface="Courier New" panose="02070309020205020404" pitchFamily="49" charset="0"/>
              </a:rPr>
              <a:t> &lt;&lt; "Enter a number less than 10: ";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 err="1">
                <a:latin typeface="Courier New" panose="02070309020205020404" pitchFamily="49" charset="0"/>
              </a:rPr>
              <a:t>cin</a:t>
            </a:r>
            <a:r>
              <a:rPr lang="en-US" altLang="en-US" sz="2400" dirty="0">
                <a:latin typeface="Courier New" panose="02070309020205020404" pitchFamily="49" charset="0"/>
              </a:rPr>
              <a:t> &gt;&gt; number;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while (number &gt;= 10)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</a:t>
            </a:r>
            <a:r>
              <a:rPr lang="en-US" altLang="en-US" sz="2400" dirty="0" err="1">
                <a:latin typeface="Courier New" panose="02070309020205020404" pitchFamily="49" charset="0"/>
              </a:rPr>
              <a:t>cout</a:t>
            </a:r>
            <a:r>
              <a:rPr lang="en-US" altLang="en-US" sz="2400" dirty="0">
                <a:latin typeface="Courier New" panose="02070309020205020404" pitchFamily="49" charset="0"/>
              </a:rPr>
              <a:t> &lt;&lt; "Invalid Entry!"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     &lt;&lt; "Enter a number less than 10: ";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</a:t>
            </a:r>
            <a:r>
              <a:rPr lang="en-US" altLang="en-US" sz="2400" dirty="0" err="1">
                <a:latin typeface="Courier New" panose="02070309020205020404" pitchFamily="49" charset="0"/>
              </a:rPr>
              <a:t>cin</a:t>
            </a:r>
            <a:r>
              <a:rPr lang="en-US" altLang="en-US" sz="2400" dirty="0">
                <a:latin typeface="Courier New" panose="02070309020205020404" pitchFamily="49" charset="0"/>
              </a:rPr>
              <a:t> &gt;&gt; number;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AEB58F0E-F137-4D96-B736-1737E0C14F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Flowchart for Input Validation</a:t>
            </a:r>
          </a:p>
        </p:txBody>
      </p:sp>
      <p:pic>
        <p:nvPicPr>
          <p:cNvPr id="26627" name="Picture 3" descr="Figure 5-4 Flowchart for input validation">
            <a:extLst>
              <a:ext uri="{FF2B5EF4-FFF2-40B4-BE49-F238E27FC236}">
                <a16:creationId xmlns:a16="http://schemas.microsoft.com/office/drawing/2014/main" id="{068EAF3F-465B-47B5-9BBA-B89E2F758A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325" y="1817688"/>
            <a:ext cx="5467350" cy="374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4835F705-4F53-41F6-9043-94D0891DEC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Input Validation in Program 5-5</a:t>
            </a:r>
          </a:p>
        </p:txBody>
      </p:sp>
      <p:pic>
        <p:nvPicPr>
          <p:cNvPr id="27651" name="Picture 2" descr="Lines 20 through 46 of Program 5-5">
            <a:extLst>
              <a:ext uri="{FF2B5EF4-FFF2-40B4-BE49-F238E27FC236}">
                <a16:creationId xmlns:a16="http://schemas.microsoft.com/office/drawing/2014/main" id="{B3E4587E-8657-4214-9A60-CAF3557356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1925" y="1439863"/>
            <a:ext cx="6281738" cy="482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8B2C31B5-72DC-4A7D-8088-9EFD6F2D22C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5.4</a:t>
            </a:r>
          </a:p>
        </p:txBody>
      </p:sp>
      <p:sp>
        <p:nvSpPr>
          <p:cNvPr id="28675" name="Subtitle 2">
            <a:extLst>
              <a:ext uri="{FF2B5EF4-FFF2-40B4-BE49-F238E27FC236}">
                <a16:creationId xmlns:a16="http://schemas.microsoft.com/office/drawing/2014/main" id="{F0DAC16B-0507-456E-9AC3-59C897AF897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/>
              <a:t>Counters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67D09ECF-750F-4315-8586-9AED3A4885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Counters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64491165-F212-42B3-B87B-D3D7D864C8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u="sng"/>
              <a:t>Counter</a:t>
            </a:r>
            <a:r>
              <a:rPr lang="en-US" altLang="en-US"/>
              <a:t>: a variable that is incremented or decremented each time a loop repeats</a:t>
            </a:r>
          </a:p>
          <a:p>
            <a:r>
              <a:rPr lang="en-US" altLang="en-US"/>
              <a:t>Can be used to control execution of the loop (also known as the </a:t>
            </a:r>
            <a:r>
              <a:rPr lang="en-US" altLang="en-US" i="1" u="sng"/>
              <a:t>loop control variable</a:t>
            </a:r>
            <a:r>
              <a:rPr lang="en-US" altLang="en-US"/>
              <a:t>)</a:t>
            </a:r>
          </a:p>
          <a:p>
            <a:r>
              <a:rPr lang="en-US" altLang="en-US"/>
              <a:t>Must be initialized before entering loop</a:t>
            </a:r>
            <a:endParaRPr lang="en-US" altLang="en-US" u="sng"/>
          </a:p>
          <a:p>
            <a:endParaRPr lang="en-US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73C51-5FC0-40C6-A84F-B12EE59BD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A Counter Variable Controls the Loop in Program 5-6 (1 of 2)</a:t>
            </a:r>
          </a:p>
        </p:txBody>
      </p:sp>
      <p:pic>
        <p:nvPicPr>
          <p:cNvPr id="30723" name="Picture 3" descr="Lines 1 through 14 of Program 5-6">
            <a:extLst>
              <a:ext uri="{FF2B5EF4-FFF2-40B4-BE49-F238E27FC236}">
                <a16:creationId xmlns:a16="http://schemas.microsoft.com/office/drawing/2014/main" id="{15219A0E-1D74-4252-8FB1-2F53C186E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675" y="2057400"/>
            <a:ext cx="6724650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4" name="TextBox 5">
            <a:extLst>
              <a:ext uri="{FF2B5EF4-FFF2-40B4-BE49-F238E27FC236}">
                <a16:creationId xmlns:a16="http://schemas.microsoft.com/office/drawing/2014/main" id="{B9324811-9D17-4F6D-9BD3-4EFDDF621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6019800"/>
            <a:ext cx="1466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Continued…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08776-11DE-4B01-9231-EB96BEA52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A Counter Variable Controls the Loop in Program 5-6 (2 of 2)</a:t>
            </a:r>
          </a:p>
        </p:txBody>
      </p:sp>
      <p:pic>
        <p:nvPicPr>
          <p:cNvPr id="31747" name="Picture 2" descr="Lines 15 through 21 of Program 5-6 with sample output">
            <a:extLst>
              <a:ext uri="{FF2B5EF4-FFF2-40B4-BE49-F238E27FC236}">
                <a16:creationId xmlns:a16="http://schemas.microsoft.com/office/drawing/2014/main" id="{892A8C4A-05C1-4113-9465-B958D97C1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675" y="1676400"/>
            <a:ext cx="6724650" cy="445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4AFF0B7F-7C16-4AA9-94A2-F3513B21CF4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5.5</a:t>
            </a:r>
          </a:p>
        </p:txBody>
      </p:sp>
      <p:sp>
        <p:nvSpPr>
          <p:cNvPr id="32771" name="Subtitle 2">
            <a:extLst>
              <a:ext uri="{FF2B5EF4-FFF2-40B4-BE49-F238E27FC236}">
                <a16:creationId xmlns:a16="http://schemas.microsoft.com/office/drawing/2014/main" id="{67CAEE18-727E-4DFC-8EAC-D62B065C1EF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/>
              <a:t>The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do-while</a:t>
            </a:r>
            <a:r>
              <a:rPr lang="en-US" altLang="en-US"/>
              <a:t> Loop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80258654-8C7A-4D8E-9A1D-795741F233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</a:t>
            </a:r>
            <a:r>
              <a:rPr lang="en-US" altLang="en-US">
                <a:latin typeface="Courier New" panose="02070309020205020404" pitchFamily="49" charset="0"/>
              </a:rPr>
              <a:t>do-while</a:t>
            </a:r>
            <a:r>
              <a:rPr lang="en-US" altLang="en-US"/>
              <a:t> Loop</a:t>
            </a:r>
          </a:p>
        </p:txBody>
      </p:sp>
      <p:sp>
        <p:nvSpPr>
          <p:cNvPr id="33795" name="Content Placeholder 2">
            <a:extLst>
              <a:ext uri="{FF2B5EF4-FFF2-40B4-BE49-F238E27FC236}">
                <a16:creationId xmlns:a16="http://schemas.microsoft.com/office/drawing/2014/main" id="{C661EFA8-1EDD-4941-B6F7-BED78E49E2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/>
              <a:t> </a:t>
            </a:r>
            <a:r>
              <a:rPr lang="en-US" altLang="en-US" sz="2800">
                <a:latin typeface="Courier New" panose="02070309020205020404" pitchFamily="49" charset="0"/>
              </a:rPr>
              <a:t>do-while</a:t>
            </a:r>
            <a:r>
              <a:rPr lang="en-US" altLang="en-US" sz="2800"/>
              <a:t>: a posttest loop – execute the loop, then test the </a:t>
            </a:r>
            <a:r>
              <a:rPr lang="en-US" altLang="en-US" sz="2800">
                <a:latin typeface="Courier New" panose="02070309020205020404" pitchFamily="49" charset="0"/>
              </a:rPr>
              <a:t>expression</a:t>
            </a:r>
            <a:endParaRPr lang="en-US" altLang="en-US" sz="2800"/>
          </a:p>
          <a:p>
            <a:pPr>
              <a:lnSpc>
                <a:spcPct val="90000"/>
              </a:lnSpc>
            </a:pPr>
            <a:r>
              <a:rPr lang="en-US" altLang="en-US" sz="2800"/>
              <a:t>General Format: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400"/>
              <a:t>	</a:t>
            </a:r>
            <a:r>
              <a:rPr lang="en-US" altLang="en-US" sz="2400">
                <a:latin typeface="Courier New" panose="02070309020205020404" pitchFamily="49" charset="0"/>
              </a:rPr>
              <a:t>do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		 </a:t>
            </a:r>
            <a:r>
              <a:rPr lang="en-US" altLang="en-US" sz="2400" i="1">
                <a:latin typeface="Courier New" panose="02070309020205020404" pitchFamily="49" charset="0"/>
              </a:rPr>
              <a:t>statement</a:t>
            </a:r>
            <a:r>
              <a:rPr lang="en-US" altLang="en-US" sz="2400">
                <a:latin typeface="Courier New" panose="02070309020205020404" pitchFamily="49" charset="0"/>
              </a:rPr>
              <a:t>;  // or block in { }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 while (</a:t>
            </a:r>
            <a:r>
              <a:rPr lang="en-US" altLang="en-US" sz="2400" i="1">
                <a:latin typeface="Courier New" panose="02070309020205020404" pitchFamily="49" charset="0"/>
              </a:rPr>
              <a:t>expression</a:t>
            </a:r>
            <a:r>
              <a:rPr lang="en-US" altLang="en-US" sz="2400">
                <a:latin typeface="Courier New" panose="02070309020205020404" pitchFamily="49" charset="0"/>
              </a:rPr>
              <a:t>);</a:t>
            </a:r>
            <a:br>
              <a:rPr lang="en-US" altLang="en-US" sz="2400">
                <a:latin typeface="Courier New" panose="02070309020205020404" pitchFamily="49" charset="0"/>
              </a:rPr>
            </a:br>
            <a:endParaRPr lang="en-US" altLang="en-US" sz="240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800"/>
              <a:t>Note that a semicolon is required after </a:t>
            </a:r>
            <a:r>
              <a:rPr lang="en-US" altLang="en-US" sz="2800">
                <a:latin typeface="Courier New" panose="02070309020205020404" pitchFamily="49" charset="0"/>
              </a:rPr>
              <a:t>(</a:t>
            </a:r>
            <a:r>
              <a:rPr lang="en-US" altLang="en-US" sz="2800" i="1">
                <a:latin typeface="Courier New" panose="02070309020205020404" pitchFamily="49" charset="0"/>
              </a:rPr>
              <a:t>expression</a:t>
            </a:r>
            <a:r>
              <a:rPr lang="en-US" altLang="en-US" sz="2800">
                <a:latin typeface="Courier New" panose="02070309020205020404" pitchFamily="49" charset="0"/>
              </a:rPr>
              <a:t>)</a:t>
            </a:r>
            <a:endParaRPr lang="en-US" altLang="en-US" sz="2800"/>
          </a:p>
          <a:p>
            <a:endParaRPr lang="en-US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4C9F9FFD-B38F-42CE-94A4-D74FE3B0DA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Logic of a </a:t>
            </a:r>
            <a:r>
              <a:rPr lang="en-US" altLang="en-US">
                <a:latin typeface="Courier New" panose="02070309020205020404" pitchFamily="49" charset="0"/>
              </a:rPr>
              <a:t>do</a:t>
            </a:r>
            <a:r>
              <a:rPr lang="en-US" altLang="en-US"/>
              <a:t>-</a:t>
            </a:r>
            <a:r>
              <a:rPr lang="en-US" altLang="en-US">
                <a:latin typeface="Courier New" panose="02070309020205020404" pitchFamily="49" charset="0"/>
              </a:rPr>
              <a:t>while</a:t>
            </a:r>
            <a:r>
              <a:rPr lang="en-US" altLang="en-US"/>
              <a:t> Loop</a:t>
            </a:r>
          </a:p>
        </p:txBody>
      </p:sp>
      <p:pic>
        <p:nvPicPr>
          <p:cNvPr id="34819" name="Picture 3" descr="Figure 5-5 Flowchart for a do-while loop">
            <a:extLst>
              <a:ext uri="{FF2B5EF4-FFF2-40B4-BE49-F238E27FC236}">
                <a16:creationId xmlns:a16="http://schemas.microsoft.com/office/drawing/2014/main" id="{4B78E9B9-7857-4C26-8C43-971B58038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0700" y="1524000"/>
            <a:ext cx="3022600" cy="451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DEFBD570-5CBD-48DE-935E-440312D5F0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Example </a:t>
            </a:r>
            <a:r>
              <a:rPr lang="en-US" altLang="en-US">
                <a:latin typeface="Courier New" panose="02070309020205020404" pitchFamily="49" charset="0"/>
              </a:rPr>
              <a:t>do</a:t>
            </a:r>
            <a:r>
              <a:rPr lang="en-US" altLang="en-US"/>
              <a:t>-</a:t>
            </a:r>
            <a:r>
              <a:rPr lang="en-US" altLang="en-US">
                <a:latin typeface="Courier New" panose="02070309020205020404" pitchFamily="49" charset="0"/>
              </a:rPr>
              <a:t>while</a:t>
            </a:r>
            <a:r>
              <a:rPr lang="en-US" altLang="en-US"/>
              <a:t> Loop</a:t>
            </a:r>
          </a:p>
        </p:txBody>
      </p:sp>
      <p:sp>
        <p:nvSpPr>
          <p:cNvPr id="35843" name="Text Box 3" descr="Example do-while loop code">
            <a:extLst>
              <a:ext uri="{FF2B5EF4-FFF2-40B4-BE49-F238E27FC236}">
                <a16:creationId xmlns:a16="http://schemas.microsoft.com/office/drawing/2014/main" id="{6400A24C-76A9-4D8E-A5A8-6B100F61EF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1905000"/>
            <a:ext cx="5791200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>
                <a:latin typeface="Courier New" panose="02070309020205020404" pitchFamily="49" charset="0"/>
              </a:rPr>
              <a:t>int x = 1;</a:t>
            </a:r>
            <a:br>
              <a:rPr lang="en-US" altLang="en-US" sz="2800" dirty="0">
                <a:latin typeface="Courier New" panose="02070309020205020404" pitchFamily="49" charset="0"/>
              </a:rPr>
            </a:br>
            <a:r>
              <a:rPr lang="en-US" altLang="en-US" sz="2800" dirty="0">
                <a:latin typeface="Courier New" panose="02070309020205020404" pitchFamily="49" charset="0"/>
              </a:rPr>
              <a:t>do</a:t>
            </a:r>
            <a:br>
              <a:rPr lang="en-US" altLang="en-US" sz="2800" dirty="0">
                <a:latin typeface="Courier New" panose="02070309020205020404" pitchFamily="49" charset="0"/>
              </a:rPr>
            </a:br>
            <a:r>
              <a:rPr lang="en-US" altLang="en-US" sz="2800" dirty="0">
                <a:latin typeface="Courier New" panose="02070309020205020404" pitchFamily="49" charset="0"/>
              </a:rPr>
              <a:t>{</a:t>
            </a:r>
            <a:br>
              <a:rPr lang="en-US" altLang="en-US" sz="2800" dirty="0">
                <a:latin typeface="Courier New" panose="02070309020205020404" pitchFamily="49" charset="0"/>
              </a:rPr>
            </a:br>
            <a:r>
              <a:rPr lang="en-US" altLang="en-US" sz="2800" dirty="0">
                <a:latin typeface="Courier New" panose="02070309020205020404" pitchFamily="49" charset="0"/>
              </a:rPr>
              <a:t>    </a:t>
            </a:r>
            <a:r>
              <a:rPr lang="en-US" altLang="en-US" sz="2800" dirty="0" err="1">
                <a:latin typeface="Courier New" panose="02070309020205020404" pitchFamily="49" charset="0"/>
              </a:rPr>
              <a:t>cout</a:t>
            </a:r>
            <a:r>
              <a:rPr lang="en-US" altLang="en-US" sz="2800" dirty="0">
                <a:latin typeface="Courier New" panose="02070309020205020404" pitchFamily="49" charset="0"/>
              </a:rPr>
              <a:t> &lt;&lt; x &lt;&lt; </a:t>
            </a:r>
            <a:r>
              <a:rPr lang="en-US" altLang="en-US" sz="2800" dirty="0" err="1">
                <a:latin typeface="Courier New" panose="02070309020205020404" pitchFamily="49" charset="0"/>
              </a:rPr>
              <a:t>endl</a:t>
            </a:r>
            <a:r>
              <a:rPr lang="en-US" altLang="en-US" sz="2800" dirty="0">
                <a:latin typeface="Courier New" panose="02070309020205020404" pitchFamily="49" charset="0"/>
              </a:rPr>
              <a:t>;</a:t>
            </a:r>
            <a:br>
              <a:rPr lang="en-US" altLang="en-US" sz="2800" dirty="0">
                <a:latin typeface="Courier New" panose="02070309020205020404" pitchFamily="49" charset="0"/>
              </a:rPr>
            </a:br>
            <a:r>
              <a:rPr lang="en-US" altLang="en-US" sz="2800" dirty="0">
                <a:latin typeface="Courier New" panose="02070309020205020404" pitchFamily="49" charset="0"/>
              </a:rPr>
              <a:t>} while(x &lt; 0);</a:t>
            </a:r>
          </a:p>
        </p:txBody>
      </p:sp>
      <p:sp>
        <p:nvSpPr>
          <p:cNvPr id="35844" name="Text Box 4">
            <a:extLst>
              <a:ext uri="{FF2B5EF4-FFF2-40B4-BE49-F238E27FC236}">
                <a16:creationId xmlns:a16="http://schemas.microsoft.com/office/drawing/2014/main" id="{1588CAE1-36CB-4B6A-81DF-A8ABB3E97B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495800"/>
            <a:ext cx="80772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/>
              <a:t>Although the test expression is false, this loop will execute one time because </a:t>
            </a:r>
            <a:r>
              <a:rPr lang="en-US" altLang="en-US" sz="2800">
                <a:latin typeface="Courier New" panose="02070309020205020404" pitchFamily="49" charset="0"/>
              </a:rPr>
              <a:t>do</a:t>
            </a:r>
            <a:r>
              <a:rPr lang="en-US" altLang="en-US" sz="2800"/>
              <a:t>-</a:t>
            </a:r>
            <a:r>
              <a:rPr lang="en-US" altLang="en-US" sz="2800">
                <a:latin typeface="Courier New" panose="02070309020205020404" pitchFamily="49" charset="0"/>
              </a:rPr>
              <a:t>while</a:t>
            </a:r>
            <a:r>
              <a:rPr lang="en-US" altLang="en-US" sz="2800"/>
              <a:t> is a posttest loop.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AC8FD-E896-4DE6-B458-F2C1AB5D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A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do-while</a:t>
            </a:r>
            <a:r>
              <a:rPr lang="en-US" dirty="0"/>
              <a:t> Loop in Program 5-7 (1 of 2)</a:t>
            </a:r>
          </a:p>
        </p:txBody>
      </p:sp>
      <p:grpSp>
        <p:nvGrpSpPr>
          <p:cNvPr id="36867" name="Group 5" descr="Program 5-7">
            <a:extLst>
              <a:ext uri="{FF2B5EF4-FFF2-40B4-BE49-F238E27FC236}">
                <a16:creationId xmlns:a16="http://schemas.microsoft.com/office/drawing/2014/main" id="{2C3C347B-07B0-4FC3-A19B-699883EE17E3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1524000"/>
            <a:ext cx="5105400" cy="4564063"/>
            <a:chOff x="144" y="384"/>
            <a:chExt cx="4176" cy="3733"/>
          </a:xfrm>
        </p:grpSpPr>
        <p:pic>
          <p:nvPicPr>
            <p:cNvPr id="36869" name="Picture 4" descr="Pink tissue paper">
              <a:extLst>
                <a:ext uri="{FF2B5EF4-FFF2-40B4-BE49-F238E27FC236}">
                  <a16:creationId xmlns:a16="http://schemas.microsoft.com/office/drawing/2014/main" id="{F53E15D2-8541-4A7B-A6F6-C1F39CFCD5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" y="384"/>
              <a:ext cx="4176" cy="37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870" name="Picture 3" descr="Pink tissue paper">
              <a:extLst>
                <a:ext uri="{FF2B5EF4-FFF2-40B4-BE49-F238E27FC236}">
                  <a16:creationId xmlns:a16="http://schemas.microsoft.com/office/drawing/2014/main" id="{2E86EE0F-AA1C-4735-88AF-547F2B5F76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" y="384"/>
              <a:ext cx="125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6868" name="TextBox 6">
            <a:extLst>
              <a:ext uri="{FF2B5EF4-FFF2-40B4-BE49-F238E27FC236}">
                <a16:creationId xmlns:a16="http://schemas.microsoft.com/office/drawing/2014/main" id="{EF808CA5-E730-4D15-B305-11AF9F5045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6019800"/>
            <a:ext cx="1466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Continued…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E2F6-EB10-4A3C-B35C-D9573C187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A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do-while</a:t>
            </a:r>
            <a:r>
              <a:rPr lang="en-US" dirty="0"/>
              <a:t> Loop in Program 5-7 (2 of 2)</a:t>
            </a:r>
          </a:p>
        </p:txBody>
      </p:sp>
      <p:pic>
        <p:nvPicPr>
          <p:cNvPr id="37891" name="Picture 2" descr="Sample output from Program 5-7">
            <a:extLst>
              <a:ext uri="{FF2B5EF4-FFF2-40B4-BE49-F238E27FC236}">
                <a16:creationId xmlns:a16="http://schemas.microsoft.com/office/drawing/2014/main" id="{9E6D1199-0A37-477B-915C-A34868CEAB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76400"/>
            <a:ext cx="8001000" cy="183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592F9386-05D6-4905-B74F-8B4C3DD75D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do-while</a:t>
            </a:r>
            <a:r>
              <a:rPr lang="en-US" altLang="en-US"/>
              <a:t> Loop Notes</a:t>
            </a:r>
          </a:p>
        </p:txBody>
      </p:sp>
      <p:sp>
        <p:nvSpPr>
          <p:cNvPr id="38915" name="Content Placeholder 2">
            <a:extLst>
              <a:ext uri="{FF2B5EF4-FFF2-40B4-BE49-F238E27FC236}">
                <a16:creationId xmlns:a16="http://schemas.microsoft.com/office/drawing/2014/main" id="{34560797-8002-4CFA-B435-42161D76E6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Loop always executes at least once</a:t>
            </a:r>
          </a:p>
          <a:p>
            <a:r>
              <a:rPr lang="en-US" altLang="en-US"/>
              <a:t>Execution continues as long as </a:t>
            </a:r>
            <a:r>
              <a:rPr lang="en-US" altLang="en-US" i="1">
                <a:latin typeface="Courier New" panose="02070309020205020404" pitchFamily="49" charset="0"/>
              </a:rPr>
              <a:t>expression</a:t>
            </a:r>
            <a:r>
              <a:rPr lang="en-US" altLang="en-US"/>
              <a:t> is </a:t>
            </a:r>
            <a:r>
              <a:rPr lang="en-US" altLang="en-US">
                <a:latin typeface="Courier New" panose="02070309020205020404" pitchFamily="49" charset="0"/>
              </a:rPr>
              <a:t>true</a:t>
            </a:r>
            <a:r>
              <a:rPr lang="en-US" altLang="en-US"/>
              <a:t>, stops repetition when </a:t>
            </a:r>
            <a:r>
              <a:rPr lang="en-US" altLang="en-US" i="1">
                <a:latin typeface="Courier New" panose="02070309020205020404" pitchFamily="49" charset="0"/>
              </a:rPr>
              <a:t>expression</a:t>
            </a:r>
            <a:r>
              <a:rPr lang="en-US" altLang="en-US"/>
              <a:t> becomes </a:t>
            </a:r>
            <a:r>
              <a:rPr lang="en-US" altLang="en-US">
                <a:latin typeface="Courier New" panose="02070309020205020404" pitchFamily="49" charset="0"/>
              </a:rPr>
              <a:t>false</a:t>
            </a:r>
            <a:endParaRPr lang="en-US" altLang="en-US"/>
          </a:p>
          <a:p>
            <a:r>
              <a:rPr lang="en-US" altLang="en-US"/>
              <a:t>Useful in menu-driven programs to bring user back to menu to make another choice (</a:t>
            </a:r>
            <a:r>
              <a:rPr lang="en-US" altLang="en-US" i="1"/>
              <a:t>see </a:t>
            </a:r>
            <a:r>
              <a:rPr lang="en-US" altLang="en-US"/>
              <a:t>Program 5-8 </a:t>
            </a:r>
            <a:r>
              <a:rPr lang="en-US" altLang="en-US" i="1"/>
              <a:t>on pages </a:t>
            </a:r>
            <a:r>
              <a:rPr lang="en-US" altLang="en-US"/>
              <a:t>245-246)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79ED48E4-1DED-4751-9737-AD3BC4C8ABA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5.6</a:t>
            </a:r>
          </a:p>
        </p:txBody>
      </p:sp>
      <p:sp>
        <p:nvSpPr>
          <p:cNvPr id="39939" name="Subtitle 2">
            <a:extLst>
              <a:ext uri="{FF2B5EF4-FFF2-40B4-BE49-F238E27FC236}">
                <a16:creationId xmlns:a16="http://schemas.microsoft.com/office/drawing/2014/main" id="{1779A732-E739-49D0-B9B3-5E47DE11DB5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/>
              <a:t>The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en-US"/>
              <a:t> Loop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4F1D9BF9-BEB4-4575-B1B0-62ACB483C9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</a:t>
            </a:r>
            <a:r>
              <a:rPr lang="en-US" altLang="en-US">
                <a:latin typeface="Courier New" panose="02070309020205020404" pitchFamily="49" charset="0"/>
              </a:rPr>
              <a:t>for</a:t>
            </a:r>
            <a:r>
              <a:rPr lang="en-US" altLang="en-US"/>
              <a:t> Loop</a:t>
            </a:r>
          </a:p>
        </p:txBody>
      </p:sp>
      <p:sp>
        <p:nvSpPr>
          <p:cNvPr id="40963" name="Content Placeholder 2" descr="Description of the for loop">
            <a:extLst>
              <a:ext uri="{FF2B5EF4-FFF2-40B4-BE49-F238E27FC236}">
                <a16:creationId xmlns:a16="http://schemas.microsoft.com/office/drawing/2014/main" id="{565ACFF5-1576-48F7-AA74-A13F0F098F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dirty="0"/>
              <a:t>Useful for counter-controlled loop</a:t>
            </a:r>
            <a:br>
              <a:rPr lang="en-US" altLang="en-US" sz="2800" dirty="0"/>
            </a:br>
            <a:endParaRPr lang="en-US" altLang="en-US" sz="2800" dirty="0"/>
          </a:p>
          <a:p>
            <a:r>
              <a:rPr lang="en-US" altLang="en-US" sz="2800" dirty="0"/>
              <a:t>General Format:</a:t>
            </a:r>
            <a:br>
              <a:rPr lang="en-US" altLang="en-US" sz="2800" dirty="0"/>
            </a:br>
            <a:endParaRPr lang="en-US" altLang="en-US" sz="2800" dirty="0"/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altLang="en-US" sz="2400" dirty="0"/>
              <a:t>	</a:t>
            </a:r>
            <a:r>
              <a:rPr lang="en-US" altLang="en-US" sz="2400" dirty="0">
                <a:latin typeface="Courier New" panose="02070309020205020404" pitchFamily="49" charset="0"/>
              </a:rPr>
              <a:t>for(</a:t>
            </a:r>
            <a:r>
              <a:rPr lang="en-US" altLang="en-US" sz="2400" i="1" dirty="0">
                <a:latin typeface="Courier New" panose="02070309020205020404" pitchFamily="49" charset="0"/>
              </a:rPr>
              <a:t>initialization</a:t>
            </a:r>
            <a:r>
              <a:rPr lang="en-US" altLang="en-US" sz="2400" dirty="0">
                <a:latin typeface="Courier New" panose="02070309020205020404" pitchFamily="49" charset="0"/>
              </a:rPr>
              <a:t>; </a:t>
            </a:r>
            <a:r>
              <a:rPr lang="en-US" altLang="en-US" sz="2400" i="1" dirty="0">
                <a:latin typeface="Courier New" panose="02070309020205020404" pitchFamily="49" charset="0"/>
              </a:rPr>
              <a:t>test</a:t>
            </a:r>
            <a:r>
              <a:rPr lang="en-US" altLang="en-US" sz="2400" dirty="0">
                <a:latin typeface="Courier New" panose="02070309020205020404" pitchFamily="49" charset="0"/>
              </a:rPr>
              <a:t>; </a:t>
            </a:r>
            <a:r>
              <a:rPr lang="en-US" altLang="en-US" sz="2400" i="1" dirty="0">
                <a:latin typeface="Courier New" panose="02070309020205020404" pitchFamily="49" charset="0"/>
              </a:rPr>
              <a:t>update</a:t>
            </a:r>
            <a:r>
              <a:rPr lang="en-US" altLang="en-US" sz="2400" dirty="0">
                <a:latin typeface="Courier New" panose="02070309020205020404" pitchFamily="49" charset="0"/>
              </a:rPr>
              <a:t>)</a:t>
            </a:r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		   </a:t>
            </a:r>
            <a:r>
              <a:rPr lang="en-US" altLang="en-US" sz="2400" i="1" dirty="0">
                <a:latin typeface="Courier New" panose="02070309020205020404" pitchFamily="49" charset="0"/>
              </a:rPr>
              <a:t>statement</a:t>
            </a:r>
            <a:r>
              <a:rPr lang="en-US" altLang="en-US" sz="2400" dirty="0">
                <a:latin typeface="Courier New" panose="02070309020205020404" pitchFamily="49" charset="0"/>
              </a:rPr>
              <a:t>; // or block in { }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endParaRPr lang="en-US" altLang="en-US" sz="2400" dirty="0"/>
          </a:p>
          <a:p>
            <a:r>
              <a:rPr lang="en-US" altLang="en-US" sz="2800" dirty="0"/>
              <a:t>No semicolon after the 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lang="en-US" altLang="en-US" sz="2800" dirty="0"/>
              <a:t> expression or after the </a:t>
            </a:r>
            <a:r>
              <a:rPr lang="en-US" altLang="en-US" sz="2800" dirty="0">
                <a:latin typeface="Courier New" panose="02070309020205020404" pitchFamily="49" charset="0"/>
              </a:rPr>
              <a:t>)</a:t>
            </a:r>
            <a:endParaRPr lang="en-US" altLang="en-US" sz="2800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50801FAC-5574-4A9B-8DAC-A53CA7D389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Courier New" panose="02070309020205020404" pitchFamily="49" charset="0"/>
              </a:rPr>
              <a:t>for</a:t>
            </a:r>
            <a:r>
              <a:rPr lang="en-US" altLang="en-US"/>
              <a:t> Loop - Mechanics</a:t>
            </a:r>
          </a:p>
        </p:txBody>
      </p:sp>
      <p:sp>
        <p:nvSpPr>
          <p:cNvPr id="3" name="Content Placeholder 2" descr="Mechanics of the for loop">
            <a:extLst>
              <a:ext uri="{FF2B5EF4-FFF2-40B4-BE49-F238E27FC236}">
                <a16:creationId xmlns:a16="http://schemas.microsoft.com/office/drawing/2014/main" id="{9695210E-D28E-4F5D-BABA-E4C2690F4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Font typeface="Times" pitchFamily="-16" charset="0"/>
              <a:buNone/>
              <a:defRPr/>
            </a:pPr>
            <a:r>
              <a:rPr lang="en-US" sz="2400" dirty="0">
                <a:latin typeface="Courier New" pitchFamily="-16" charset="0"/>
              </a:rPr>
              <a:t>for(</a:t>
            </a:r>
            <a:r>
              <a:rPr lang="en-US" sz="2400" i="1" dirty="0">
                <a:latin typeface="Courier New" pitchFamily="-16" charset="0"/>
              </a:rPr>
              <a:t>initialization</a:t>
            </a:r>
            <a:r>
              <a:rPr lang="en-US" sz="2400" dirty="0">
                <a:latin typeface="Courier New" pitchFamily="-16" charset="0"/>
              </a:rPr>
              <a:t>; </a:t>
            </a:r>
            <a:r>
              <a:rPr lang="en-US" sz="2400" i="1" dirty="0">
                <a:latin typeface="Courier New" pitchFamily="-16" charset="0"/>
              </a:rPr>
              <a:t>test</a:t>
            </a:r>
            <a:r>
              <a:rPr lang="en-US" sz="2400" dirty="0">
                <a:latin typeface="Courier New" pitchFamily="-16" charset="0"/>
              </a:rPr>
              <a:t>; </a:t>
            </a:r>
            <a:r>
              <a:rPr lang="en-US" sz="2400" i="1" dirty="0">
                <a:latin typeface="Courier New" pitchFamily="-16" charset="0"/>
              </a:rPr>
              <a:t>update</a:t>
            </a:r>
            <a:r>
              <a:rPr lang="en-US" sz="2400" dirty="0">
                <a:latin typeface="Courier New" pitchFamily="-16" charset="0"/>
              </a:rPr>
              <a:t>)</a:t>
            </a:r>
          </a:p>
          <a:p>
            <a:pPr marL="990600" lvl="1" indent="-533400">
              <a:buFontTx/>
              <a:buNone/>
              <a:defRPr/>
            </a:pPr>
            <a:r>
              <a:rPr lang="en-US" sz="2400" dirty="0">
                <a:latin typeface="Courier New" pitchFamily="-16" charset="0"/>
              </a:rPr>
              <a:t>		</a:t>
            </a:r>
            <a:r>
              <a:rPr lang="en-US" sz="2400" i="1" dirty="0">
                <a:latin typeface="Courier New" pitchFamily="-16" charset="0"/>
              </a:rPr>
              <a:t>statement</a:t>
            </a:r>
            <a:r>
              <a:rPr lang="en-US" sz="2400" dirty="0">
                <a:latin typeface="Courier New" pitchFamily="-16" charset="0"/>
              </a:rPr>
              <a:t>; // or block in { }</a:t>
            </a:r>
            <a:br>
              <a:rPr lang="en-US" sz="2400" dirty="0">
                <a:latin typeface="Courier New" pitchFamily="-16" charset="0"/>
              </a:rPr>
            </a:br>
            <a:endParaRPr lang="en-US" sz="2400" dirty="0"/>
          </a:p>
          <a:p>
            <a:pPr marL="609600" indent="-609600">
              <a:buClr>
                <a:schemeClr val="tx1"/>
              </a:buClr>
              <a:buFontTx/>
              <a:buAutoNum type="arabicParenR"/>
              <a:defRPr/>
            </a:pPr>
            <a:r>
              <a:rPr lang="en-US" sz="2800" dirty="0"/>
              <a:t>Perform</a:t>
            </a:r>
            <a:r>
              <a:rPr lang="en-US" sz="2400" dirty="0"/>
              <a:t> </a:t>
            </a:r>
            <a:r>
              <a:rPr lang="en-US" sz="2800" i="1" dirty="0">
                <a:latin typeface="Courier New" pitchFamily="-16" charset="0"/>
              </a:rPr>
              <a:t>initialization</a:t>
            </a:r>
            <a:endParaRPr lang="en-US" sz="2800" i="1" baseline="30000" dirty="0"/>
          </a:p>
          <a:p>
            <a:pPr marL="609600" indent="-609600">
              <a:buClr>
                <a:schemeClr val="tx1"/>
              </a:buClr>
              <a:buFontTx/>
              <a:buAutoNum type="arabicParenR"/>
              <a:defRPr/>
            </a:pPr>
            <a:r>
              <a:rPr lang="en-US" sz="2800" dirty="0"/>
              <a:t>Evaluate </a:t>
            </a:r>
            <a:r>
              <a:rPr lang="en-US" sz="2800" i="1" dirty="0">
                <a:latin typeface="Courier New" pitchFamily="-16" charset="0"/>
              </a:rPr>
              <a:t>test</a:t>
            </a:r>
            <a:r>
              <a:rPr lang="en-US" sz="2800" dirty="0"/>
              <a:t> expression</a:t>
            </a:r>
            <a:r>
              <a:rPr lang="en-US" sz="2400" dirty="0"/>
              <a:t>  </a:t>
            </a:r>
          </a:p>
          <a:p>
            <a:pPr marL="990600" lvl="1" indent="-533400">
              <a:defRPr/>
            </a:pPr>
            <a:r>
              <a:rPr lang="en-US" sz="2400" dirty="0"/>
              <a:t>If </a:t>
            </a:r>
            <a:r>
              <a:rPr lang="en-US" sz="2400" dirty="0">
                <a:latin typeface="Courier New" pitchFamily="-16" charset="0"/>
              </a:rPr>
              <a:t>true</a:t>
            </a:r>
            <a:r>
              <a:rPr lang="en-US" sz="2400" dirty="0"/>
              <a:t>, execute </a:t>
            </a:r>
            <a:r>
              <a:rPr lang="en-US" sz="2400" i="1" dirty="0">
                <a:latin typeface="Courier New" pitchFamily="-16" charset="0"/>
              </a:rPr>
              <a:t>statement</a:t>
            </a:r>
            <a:endParaRPr lang="en-US" sz="2400" i="1" dirty="0"/>
          </a:p>
          <a:p>
            <a:pPr marL="990600" lvl="1" indent="-533400">
              <a:defRPr/>
            </a:pPr>
            <a:r>
              <a:rPr lang="en-US" sz="2400" dirty="0"/>
              <a:t>If </a:t>
            </a:r>
            <a:r>
              <a:rPr lang="en-US" sz="2400" dirty="0">
                <a:latin typeface="Courier New" pitchFamily="-16" charset="0"/>
              </a:rPr>
              <a:t>false</a:t>
            </a:r>
            <a:r>
              <a:rPr lang="en-US" sz="2400" dirty="0"/>
              <a:t>, terminate loop execution</a:t>
            </a:r>
          </a:p>
          <a:p>
            <a:pPr marL="609600" indent="-609600">
              <a:buClr>
                <a:schemeClr val="tx1"/>
              </a:buClr>
              <a:buFontTx/>
              <a:buAutoNum type="arabicParenR"/>
              <a:defRPr/>
            </a:pPr>
            <a:r>
              <a:rPr lang="en-US" sz="2800" dirty="0"/>
              <a:t>Execute </a:t>
            </a:r>
            <a:r>
              <a:rPr lang="en-US" sz="2800" i="1" dirty="0">
                <a:latin typeface="Courier New" pitchFamily="-16" charset="0"/>
              </a:rPr>
              <a:t>update</a:t>
            </a:r>
            <a:r>
              <a:rPr lang="en-US" sz="2800" dirty="0"/>
              <a:t>, then re-evaluate </a:t>
            </a:r>
            <a:r>
              <a:rPr lang="en-US" sz="2800" i="1" dirty="0">
                <a:latin typeface="Courier New" pitchFamily="-16" charset="0"/>
              </a:rPr>
              <a:t>test</a:t>
            </a:r>
            <a:r>
              <a:rPr lang="en-US" sz="2800" dirty="0"/>
              <a:t> expression</a:t>
            </a: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DFC1480D-918B-43EC-9724-027051381D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Courier New" panose="02070309020205020404" pitchFamily="49" charset="0"/>
              </a:rPr>
              <a:t>for</a:t>
            </a:r>
            <a:r>
              <a:rPr lang="en-US" altLang="en-US"/>
              <a:t> Loop - Example</a:t>
            </a:r>
          </a:p>
        </p:txBody>
      </p:sp>
      <p:sp>
        <p:nvSpPr>
          <p:cNvPr id="4" name="Rectangle 3" descr="Example of the for loop">
            <a:extLst>
              <a:ext uri="{FF2B5EF4-FFF2-40B4-BE49-F238E27FC236}">
                <a16:creationId xmlns:a16="http://schemas.microsoft.com/office/drawing/2014/main" id="{D1415888-CDDB-4EF5-8249-25909D0B2E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8388" y="2293938"/>
            <a:ext cx="6942137" cy="173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Font typeface="Times" pitchFamily="-16" charset="0"/>
              <a:buNone/>
              <a:defRPr/>
            </a:pPr>
            <a:r>
              <a:rPr lang="en-US" sz="2400" kern="0" dirty="0">
                <a:latin typeface="Courier New" pitchFamily="-16" charset="0"/>
                <a:cs typeface="+mn-cs"/>
              </a:rPr>
              <a:t>int count;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Font typeface="Times" pitchFamily="-16" charset="0"/>
              <a:buNone/>
              <a:defRPr/>
            </a:pPr>
            <a:endParaRPr lang="en-US" sz="2400" kern="0" dirty="0">
              <a:latin typeface="Courier New" pitchFamily="-16" charset="0"/>
              <a:cs typeface="+mn-cs"/>
            </a:endParaRP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Font typeface="Times" pitchFamily="-16" charset="0"/>
              <a:buNone/>
              <a:defRPr/>
            </a:pPr>
            <a:r>
              <a:rPr lang="en-US" sz="2400" kern="0" dirty="0">
                <a:latin typeface="Courier New" pitchFamily="-16" charset="0"/>
                <a:cs typeface="+mn-cs"/>
              </a:rPr>
              <a:t>for (count = 1; count &lt;= 5; count++)</a:t>
            </a: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defRPr/>
            </a:pPr>
            <a:r>
              <a:rPr lang="en-US" sz="2400" kern="0" dirty="0" err="1">
                <a:latin typeface="Courier New" pitchFamily="-16" charset="0"/>
                <a:cs typeface="+mn-cs"/>
              </a:rPr>
              <a:t>cout</a:t>
            </a:r>
            <a:r>
              <a:rPr lang="en-US" sz="2400" kern="0" dirty="0">
                <a:latin typeface="Courier New" pitchFamily="-16" charset="0"/>
                <a:cs typeface="+mn-cs"/>
              </a:rPr>
              <a:t> &lt;&lt; "Hello" &lt;&lt; </a:t>
            </a:r>
            <a:r>
              <a:rPr lang="en-US" sz="2400" kern="0" dirty="0" err="1">
                <a:latin typeface="Courier New" pitchFamily="-16" charset="0"/>
                <a:cs typeface="+mn-cs"/>
              </a:rPr>
              <a:t>endl</a:t>
            </a:r>
            <a:r>
              <a:rPr lang="en-US" sz="2400" kern="0" dirty="0">
                <a:latin typeface="Courier New" pitchFamily="-16" charset="0"/>
                <a:cs typeface="+mn-cs"/>
              </a:rPr>
              <a:t>;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9AA53-01D4-43B5-A6A2-A99C3B38C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A Closer Look at the Previous Example</a:t>
            </a:r>
          </a:p>
        </p:txBody>
      </p:sp>
      <p:pic>
        <p:nvPicPr>
          <p:cNvPr id="44035" name="Picture 3" descr="Figure 5-8 Sequence of events in the for loop">
            <a:extLst>
              <a:ext uri="{FF2B5EF4-FFF2-40B4-BE49-F238E27FC236}">
                <a16:creationId xmlns:a16="http://schemas.microsoft.com/office/drawing/2014/main" id="{10986B49-134A-48CB-AD1D-84ABF62F7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050" y="2376488"/>
            <a:ext cx="7835900" cy="265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21D23-7EDD-4EB6-92B2-F6D2F0B26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Flowchart for the Previous Example</a:t>
            </a:r>
          </a:p>
        </p:txBody>
      </p:sp>
      <p:pic>
        <p:nvPicPr>
          <p:cNvPr id="45059" name="Picture 3" descr="Figure 5-9 Flowchart for the for loop">
            <a:extLst>
              <a:ext uri="{FF2B5EF4-FFF2-40B4-BE49-F238E27FC236}">
                <a16:creationId xmlns:a16="http://schemas.microsoft.com/office/drawing/2014/main" id="{3C125A20-1D5D-45A7-9EF6-3AD12551DB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0800" y="1849438"/>
            <a:ext cx="6502400" cy="3484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EA009695-1006-498E-94C0-5196BD176D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en-US" dirty="0"/>
              <a:t> Loop in Program 5-9 (1 of 2)</a:t>
            </a:r>
          </a:p>
        </p:txBody>
      </p:sp>
      <p:pic>
        <p:nvPicPr>
          <p:cNvPr id="46083" name="Picture 2" descr="Program 5-9">
            <a:extLst>
              <a:ext uri="{FF2B5EF4-FFF2-40B4-BE49-F238E27FC236}">
                <a16:creationId xmlns:a16="http://schemas.microsoft.com/office/drawing/2014/main" id="{C4ABF0C7-0A36-4A84-A570-777792E40B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663" y="1524000"/>
            <a:ext cx="6162675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4" name="TextBox 4">
            <a:extLst>
              <a:ext uri="{FF2B5EF4-FFF2-40B4-BE49-F238E27FC236}">
                <a16:creationId xmlns:a16="http://schemas.microsoft.com/office/drawing/2014/main" id="{633EDE00-DAEA-4040-9B0D-48789E7F0C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6019800"/>
            <a:ext cx="1466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Continued…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82A5C86E-96FD-4884-99EC-14DE3C04FF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en-US" dirty="0"/>
              <a:t> Loop in Program 5-9 (2 of 2)</a:t>
            </a:r>
          </a:p>
        </p:txBody>
      </p:sp>
      <p:pic>
        <p:nvPicPr>
          <p:cNvPr id="47107" name="Picture 2" descr="Sample output from Program 5-9">
            <a:extLst>
              <a:ext uri="{FF2B5EF4-FFF2-40B4-BE49-F238E27FC236}">
                <a16:creationId xmlns:a16="http://schemas.microsoft.com/office/drawing/2014/main" id="{FEBDA644-4574-475A-BA20-42A93ED4EF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4188" y="1957388"/>
            <a:ext cx="5635625" cy="351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3AA39-15BD-41D4-B64C-06581F382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A Closer Look at Lines 15 through 16 in Program 5-9</a:t>
            </a:r>
          </a:p>
        </p:txBody>
      </p:sp>
      <p:pic>
        <p:nvPicPr>
          <p:cNvPr id="48131" name="Picture 2" descr="A closer look at lines 15 through 16 in Program 5-9">
            <a:extLst>
              <a:ext uri="{FF2B5EF4-FFF2-40B4-BE49-F238E27FC236}">
                <a16:creationId xmlns:a16="http://schemas.microsoft.com/office/drawing/2014/main" id="{E20A9F22-9058-4D32-B2DF-C0FD7831B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" y="2190750"/>
            <a:ext cx="8515350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ABE5A-C2EA-44B9-8F2E-3087273C7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Flowchart for Lines 15 through 16 in Program 5-9</a:t>
            </a:r>
          </a:p>
        </p:txBody>
      </p:sp>
      <p:pic>
        <p:nvPicPr>
          <p:cNvPr id="49155" name="Picture 2" descr="Flowchart for lines 15 through 16 in Program 5-9">
            <a:extLst>
              <a:ext uri="{FF2B5EF4-FFF2-40B4-BE49-F238E27FC236}">
                <a16:creationId xmlns:a16="http://schemas.microsoft.com/office/drawing/2014/main" id="{4E0D690A-0F42-48A0-A262-30F60475BF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675" y="2057400"/>
            <a:ext cx="5962650" cy="346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5EFF882B-EC3D-4F58-89A4-80E769AE79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When to Use the </a:t>
            </a:r>
            <a:r>
              <a:rPr lang="en-US" altLang="en-US">
                <a:latin typeface="Courier New" panose="02070309020205020404" pitchFamily="49" charset="0"/>
              </a:rPr>
              <a:t>for</a:t>
            </a:r>
            <a:r>
              <a:rPr lang="en-US" altLang="en-US"/>
              <a:t> Loop</a:t>
            </a:r>
          </a:p>
        </p:txBody>
      </p:sp>
      <p:sp>
        <p:nvSpPr>
          <p:cNvPr id="50179" name="Content Placeholder 2" descr="When to use the for loop">
            <a:extLst>
              <a:ext uri="{FF2B5EF4-FFF2-40B4-BE49-F238E27FC236}">
                <a16:creationId xmlns:a16="http://schemas.microsoft.com/office/drawing/2014/main" id="{325862C9-7859-4B22-AE81-49538EF30D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 any situation that clearly requires</a:t>
            </a:r>
          </a:p>
          <a:p>
            <a:pPr lvl="1"/>
            <a:r>
              <a:rPr lang="en-US" altLang="en-US" dirty="0"/>
              <a:t>an initialization</a:t>
            </a:r>
          </a:p>
          <a:p>
            <a:pPr lvl="1"/>
            <a:r>
              <a:rPr lang="en-US" altLang="en-US" dirty="0"/>
              <a:t>a false condition to stop the loop</a:t>
            </a:r>
          </a:p>
          <a:p>
            <a:pPr lvl="1"/>
            <a:r>
              <a:rPr lang="en-US" altLang="en-US" dirty="0"/>
              <a:t>an update to occur at the end of each iteration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16EFF42B-AD77-473F-8B43-F84B5ABACE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</a:t>
            </a:r>
            <a:r>
              <a:rPr lang="en-US" altLang="en-US">
                <a:latin typeface="Courier New" panose="02070309020205020404" pitchFamily="49" charset="0"/>
              </a:rPr>
              <a:t>for</a:t>
            </a:r>
            <a:r>
              <a:rPr lang="en-US" altLang="en-US"/>
              <a:t> Loop is a Pretest Loop</a:t>
            </a:r>
          </a:p>
        </p:txBody>
      </p:sp>
      <p:sp>
        <p:nvSpPr>
          <p:cNvPr id="51203" name="Content Placeholder 2" descr="The for loop is a pretest loop">
            <a:extLst>
              <a:ext uri="{FF2B5EF4-FFF2-40B4-BE49-F238E27FC236}">
                <a16:creationId xmlns:a16="http://schemas.microsoft.com/office/drawing/2014/main" id="{DFF9A414-18B0-4559-81F5-2D2BE22017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The for loop tests its test expression before each iteration, so it is a pretest loop.</a:t>
            </a:r>
          </a:p>
          <a:p>
            <a:r>
              <a:rPr lang="en-US" altLang="en-US" dirty="0"/>
              <a:t>The following loop will never iterate: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sz="2400" dirty="0">
                <a:latin typeface="Courier New" panose="02070309020205020404" pitchFamily="49" charset="0"/>
              </a:rPr>
              <a:t>for (count = 11; count &lt;= 10; count++)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</a:t>
            </a:r>
            <a:r>
              <a:rPr lang="en-US" altLang="en-US" sz="2400" dirty="0" err="1">
                <a:latin typeface="Courier New" panose="02070309020205020404" pitchFamily="49" charset="0"/>
              </a:rPr>
              <a:t>cout</a:t>
            </a:r>
            <a:r>
              <a:rPr lang="en-US" altLang="en-US" sz="2400" dirty="0">
                <a:latin typeface="Courier New" panose="02070309020205020404" pitchFamily="49" charset="0"/>
              </a:rPr>
              <a:t> &lt;&lt; "Hello" &lt;&lt; </a:t>
            </a:r>
            <a:r>
              <a:rPr lang="en-US" altLang="en-US" sz="2400" dirty="0" err="1">
                <a:latin typeface="Courier New" panose="02070309020205020404" pitchFamily="49" charset="0"/>
              </a:rPr>
              <a:t>endl</a:t>
            </a:r>
            <a:r>
              <a:rPr lang="en-US" altLang="en-US" sz="2400" dirty="0">
                <a:latin typeface="Courier New" panose="02070309020205020404" pitchFamily="49" charset="0"/>
              </a:rPr>
              <a:t>;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F071F59F-701C-445B-8550-185D9A4D49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Courier New" panose="02070309020205020404" pitchFamily="49" charset="0"/>
              </a:rPr>
              <a:t>for</a:t>
            </a:r>
            <a:r>
              <a:rPr lang="en-US" altLang="en-US" dirty="0"/>
              <a:t> Loop – Modifications (1 of 4)</a:t>
            </a:r>
          </a:p>
        </p:txBody>
      </p:sp>
      <p:sp>
        <p:nvSpPr>
          <p:cNvPr id="3" name="Content Placeholder 2" descr="You can have multiple statements in the initialization expression of a for loop">
            <a:extLst>
              <a:ext uri="{FF2B5EF4-FFF2-40B4-BE49-F238E27FC236}">
                <a16:creationId xmlns:a16="http://schemas.microsoft.com/office/drawing/2014/main" id="{3F3C1E71-4A45-49B5-B860-02250566C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sz="3600" dirty="0"/>
              <a:t>You can have multiple statements in the </a:t>
            </a:r>
            <a:r>
              <a:rPr lang="en-US" sz="3600" i="1" dirty="0">
                <a:latin typeface="Courier New" pitchFamily="-16" charset="0"/>
              </a:rPr>
              <a:t>initialization</a:t>
            </a:r>
            <a:r>
              <a:rPr lang="en-US" sz="3600" dirty="0"/>
              <a:t> expression. Separate the statements with a comma:</a:t>
            </a:r>
            <a:br>
              <a:rPr lang="en-US" sz="3600" dirty="0"/>
            </a:br>
            <a:br>
              <a:rPr lang="en-US" sz="3600" dirty="0"/>
            </a:br>
            <a:r>
              <a:rPr lang="en-US" dirty="0" err="1">
                <a:latin typeface="Courier New" pitchFamily="-16" charset="0"/>
              </a:rPr>
              <a:t>int</a:t>
            </a:r>
            <a:r>
              <a:rPr lang="en-US" dirty="0">
                <a:latin typeface="Courier New" pitchFamily="-16" charset="0"/>
              </a:rPr>
              <a:t> x, y;</a:t>
            </a:r>
            <a:br>
              <a:rPr lang="en-US" dirty="0">
                <a:latin typeface="Courier New" pitchFamily="-16" charset="0"/>
              </a:rPr>
            </a:br>
            <a:r>
              <a:rPr lang="en-US" dirty="0">
                <a:latin typeface="Courier New" pitchFamily="-16" charset="0"/>
              </a:rPr>
              <a:t>for (x=1, y=1; x &lt;= 5; x++)</a:t>
            </a:r>
            <a:br>
              <a:rPr lang="en-US" dirty="0">
                <a:latin typeface="Courier New" pitchFamily="-16" charset="0"/>
              </a:rPr>
            </a:br>
            <a:r>
              <a:rPr lang="en-US" dirty="0">
                <a:latin typeface="Courier New" pitchFamily="-16" charset="0"/>
              </a:rPr>
              <a:t>{</a:t>
            </a:r>
            <a:br>
              <a:rPr lang="en-US" dirty="0">
                <a:latin typeface="Courier New" pitchFamily="-16" charset="0"/>
              </a:rPr>
            </a:br>
            <a:r>
              <a:rPr lang="en-US" dirty="0">
                <a:latin typeface="Courier New" pitchFamily="-16" charset="0"/>
              </a:rPr>
              <a:t>   </a:t>
            </a:r>
            <a:r>
              <a:rPr lang="en-US" dirty="0" err="1">
                <a:latin typeface="Courier New" pitchFamily="-16" charset="0"/>
              </a:rPr>
              <a:t>cout</a:t>
            </a:r>
            <a:r>
              <a:rPr lang="en-US" dirty="0">
                <a:latin typeface="Courier New" pitchFamily="-16" charset="0"/>
              </a:rPr>
              <a:t> &lt;&lt; x &lt;&lt; " plus " &lt;&lt; y</a:t>
            </a:r>
            <a:br>
              <a:rPr lang="en-US" dirty="0">
                <a:latin typeface="Courier New" pitchFamily="-16" charset="0"/>
              </a:rPr>
            </a:br>
            <a:r>
              <a:rPr lang="en-US" dirty="0">
                <a:latin typeface="Courier New" pitchFamily="-16" charset="0"/>
              </a:rPr>
              <a:t>        &lt;&lt; " equals " &lt;&lt; (</a:t>
            </a:r>
            <a:r>
              <a:rPr lang="en-US" dirty="0" err="1">
                <a:latin typeface="Courier New" pitchFamily="-16" charset="0"/>
              </a:rPr>
              <a:t>x+y</a:t>
            </a:r>
            <a:r>
              <a:rPr lang="en-US" dirty="0">
                <a:latin typeface="Courier New" pitchFamily="-16" charset="0"/>
              </a:rPr>
              <a:t>)</a:t>
            </a:r>
            <a:br>
              <a:rPr lang="en-US" dirty="0">
                <a:latin typeface="Courier New" pitchFamily="-16" charset="0"/>
              </a:rPr>
            </a:br>
            <a:r>
              <a:rPr lang="en-US" dirty="0">
                <a:latin typeface="Courier New" pitchFamily="-16" charset="0"/>
              </a:rPr>
              <a:t>        &lt;&lt; </a:t>
            </a:r>
            <a:r>
              <a:rPr lang="en-US" dirty="0" err="1">
                <a:latin typeface="Courier New" pitchFamily="-16" charset="0"/>
              </a:rPr>
              <a:t>endl</a:t>
            </a:r>
            <a:r>
              <a:rPr lang="en-US" dirty="0">
                <a:latin typeface="Courier New" pitchFamily="-16" charset="0"/>
              </a:rPr>
              <a:t>;</a:t>
            </a:r>
            <a:br>
              <a:rPr lang="en-US" dirty="0">
                <a:latin typeface="Courier New" pitchFamily="-16" charset="0"/>
              </a:rPr>
            </a:br>
            <a:r>
              <a:rPr lang="en-US" dirty="0">
                <a:latin typeface="Courier New" pitchFamily="-16" charset="0"/>
              </a:rPr>
              <a:t>}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52228" name="Text Box 4">
            <a:extLst>
              <a:ext uri="{FF2B5EF4-FFF2-40B4-BE49-F238E27FC236}">
                <a16:creationId xmlns:a16="http://schemas.microsoft.com/office/drawing/2014/main" id="{906DDA01-EF61-46A6-AE4C-1B7952DB4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2895600"/>
            <a:ext cx="3505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/>
              <a:t>Initialization Expression</a:t>
            </a:r>
          </a:p>
        </p:txBody>
      </p:sp>
      <p:sp>
        <p:nvSpPr>
          <p:cNvPr id="52229" name="Rectangle 5" descr="Rectangle enclosing x = 1, y = 1">
            <a:extLst>
              <a:ext uri="{FF2B5EF4-FFF2-40B4-BE49-F238E27FC236}">
                <a16:creationId xmlns:a16="http://schemas.microsoft.com/office/drawing/2014/main" id="{1E02D46E-8E8B-4CEE-B337-AAC9CB279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581400"/>
            <a:ext cx="2057400" cy="4572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2230" name="Line 6" descr="Arrow pointing from Initialization expression to x = 1, y = 1">
            <a:extLst>
              <a:ext uri="{FF2B5EF4-FFF2-40B4-BE49-F238E27FC236}">
                <a16:creationId xmlns:a16="http://schemas.microsoft.com/office/drawing/2014/main" id="{D3C1926F-FCB4-4390-9900-E51EDB50044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10000" y="3276600"/>
            <a:ext cx="3810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BE11A17F-D979-4A92-B991-063DCE8290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Courier New" panose="02070309020205020404" pitchFamily="49" charset="0"/>
              </a:rPr>
              <a:t>for</a:t>
            </a:r>
            <a:r>
              <a:rPr lang="en-US" altLang="en-US" dirty="0"/>
              <a:t> Loop – Modifications (2 of 4)</a:t>
            </a:r>
          </a:p>
        </p:txBody>
      </p:sp>
      <p:sp>
        <p:nvSpPr>
          <p:cNvPr id="3" name="Content Placeholder 2" descr="You can have multiple statements in the test expression">
            <a:extLst>
              <a:ext uri="{FF2B5EF4-FFF2-40B4-BE49-F238E27FC236}">
                <a16:creationId xmlns:a16="http://schemas.microsoft.com/office/drawing/2014/main" id="{31B07D50-E71C-4F0C-90DC-CFB78993D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  <a:defRPr/>
            </a:pPr>
            <a:r>
              <a:rPr lang="en-US" sz="3600" dirty="0"/>
              <a:t>You can also have multiple statements in the </a:t>
            </a:r>
            <a:r>
              <a:rPr lang="en-US" sz="3600" i="1" dirty="0">
                <a:latin typeface="Courier New" pitchFamily="-16" charset="0"/>
              </a:rPr>
              <a:t>update</a:t>
            </a:r>
            <a:r>
              <a:rPr lang="en-US" sz="3600" dirty="0"/>
              <a:t> expression. Separate the statements with a comma:</a:t>
            </a:r>
            <a:br>
              <a:rPr lang="en-US" sz="3600" dirty="0"/>
            </a:br>
            <a:br>
              <a:rPr lang="en-US" sz="3600" dirty="0"/>
            </a:br>
            <a:r>
              <a:rPr lang="en-US" dirty="0">
                <a:latin typeface="Courier New" pitchFamily="-16" charset="0"/>
              </a:rPr>
              <a:t>int x, y;</a:t>
            </a:r>
            <a:br>
              <a:rPr lang="en-US" dirty="0">
                <a:latin typeface="Courier New" pitchFamily="-16" charset="0"/>
              </a:rPr>
            </a:br>
            <a:r>
              <a:rPr lang="en-US" dirty="0">
                <a:latin typeface="Courier New" pitchFamily="-16" charset="0"/>
              </a:rPr>
              <a:t>for (x=1, y=1; x &lt;= 5; x++, y++)</a:t>
            </a:r>
            <a:br>
              <a:rPr lang="en-US" dirty="0">
                <a:latin typeface="Courier New" pitchFamily="-16" charset="0"/>
              </a:rPr>
            </a:br>
            <a:r>
              <a:rPr lang="en-US" dirty="0">
                <a:latin typeface="Courier New" pitchFamily="-16" charset="0"/>
              </a:rPr>
              <a:t>{</a:t>
            </a:r>
            <a:br>
              <a:rPr lang="en-US" dirty="0">
                <a:latin typeface="Courier New" pitchFamily="-16" charset="0"/>
              </a:rPr>
            </a:br>
            <a:r>
              <a:rPr lang="en-US" dirty="0">
                <a:latin typeface="Courier New" pitchFamily="-16" charset="0"/>
              </a:rPr>
              <a:t>   </a:t>
            </a:r>
            <a:r>
              <a:rPr lang="en-US" dirty="0" err="1">
                <a:latin typeface="Courier New" pitchFamily="-16" charset="0"/>
              </a:rPr>
              <a:t>cout</a:t>
            </a:r>
            <a:r>
              <a:rPr lang="en-US" dirty="0">
                <a:latin typeface="Courier New" pitchFamily="-16" charset="0"/>
              </a:rPr>
              <a:t> &lt;&lt; x &lt;&lt; " plus " &lt;&lt; y</a:t>
            </a:r>
            <a:br>
              <a:rPr lang="en-US" dirty="0">
                <a:latin typeface="Courier New" pitchFamily="-16" charset="0"/>
              </a:rPr>
            </a:br>
            <a:r>
              <a:rPr lang="en-US" dirty="0">
                <a:latin typeface="Courier New" pitchFamily="-16" charset="0"/>
              </a:rPr>
              <a:t>        &lt;&lt; " equals " &lt;&lt; (</a:t>
            </a:r>
            <a:r>
              <a:rPr lang="en-US" dirty="0" err="1">
                <a:latin typeface="Courier New" pitchFamily="-16" charset="0"/>
              </a:rPr>
              <a:t>x+y</a:t>
            </a:r>
            <a:r>
              <a:rPr lang="en-US" dirty="0">
                <a:latin typeface="Courier New" pitchFamily="-16" charset="0"/>
              </a:rPr>
              <a:t>)</a:t>
            </a:r>
            <a:br>
              <a:rPr lang="en-US" dirty="0">
                <a:latin typeface="Courier New" pitchFamily="-16" charset="0"/>
              </a:rPr>
            </a:br>
            <a:r>
              <a:rPr lang="en-US" dirty="0">
                <a:latin typeface="Courier New" pitchFamily="-16" charset="0"/>
              </a:rPr>
              <a:t>        &lt;&lt; </a:t>
            </a:r>
            <a:r>
              <a:rPr lang="en-US" dirty="0" err="1">
                <a:latin typeface="Courier New" pitchFamily="-16" charset="0"/>
              </a:rPr>
              <a:t>endl</a:t>
            </a:r>
            <a:r>
              <a:rPr lang="en-US" dirty="0">
                <a:latin typeface="Courier New" pitchFamily="-16" charset="0"/>
              </a:rPr>
              <a:t>;</a:t>
            </a:r>
            <a:br>
              <a:rPr lang="en-US" dirty="0">
                <a:latin typeface="Courier New" pitchFamily="-16" charset="0"/>
              </a:rPr>
            </a:br>
            <a:r>
              <a:rPr lang="en-US" dirty="0">
                <a:latin typeface="Courier New" pitchFamily="-16" charset="0"/>
              </a:rPr>
              <a:t>}</a:t>
            </a:r>
          </a:p>
        </p:txBody>
      </p:sp>
      <p:sp>
        <p:nvSpPr>
          <p:cNvPr id="53252" name="Text Box 4">
            <a:extLst>
              <a:ext uri="{FF2B5EF4-FFF2-40B4-BE49-F238E27FC236}">
                <a16:creationId xmlns:a16="http://schemas.microsoft.com/office/drawing/2014/main" id="{5602E373-5E01-44EA-9FB3-93A4C1AEDA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2701925"/>
            <a:ext cx="2133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/>
              <a:t>Update Expression</a:t>
            </a:r>
          </a:p>
        </p:txBody>
      </p:sp>
      <p:sp>
        <p:nvSpPr>
          <p:cNvPr id="53253" name="Rectangle 5" descr="Rectangle enclosing x++, y++">
            <a:extLst>
              <a:ext uri="{FF2B5EF4-FFF2-40B4-BE49-F238E27FC236}">
                <a16:creationId xmlns:a16="http://schemas.microsoft.com/office/drawing/2014/main" id="{4D122331-0B18-4959-8272-83465D0EA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581400"/>
            <a:ext cx="19050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3254" name="Line 6" descr="Arrow pointing from Update expression to x++, y++">
            <a:extLst>
              <a:ext uri="{FF2B5EF4-FFF2-40B4-BE49-F238E27FC236}">
                <a16:creationId xmlns:a16="http://schemas.microsoft.com/office/drawing/2014/main" id="{479CCD85-602F-46C5-B1B7-D86C0397C8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15200" y="3048000"/>
            <a:ext cx="30480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33741BEF-18EA-4A09-8ECF-69001B1994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Courier New" panose="02070309020205020404" pitchFamily="49" charset="0"/>
              </a:rPr>
              <a:t>for</a:t>
            </a:r>
            <a:r>
              <a:rPr lang="en-US" altLang="en-US" dirty="0"/>
              <a:t> Loop – Modifications (3 of 4)</a:t>
            </a:r>
          </a:p>
        </p:txBody>
      </p:sp>
      <p:sp>
        <p:nvSpPr>
          <p:cNvPr id="54275" name="Content Placeholder 2" descr="You can omit the initialization expression">
            <a:extLst>
              <a:ext uri="{FF2B5EF4-FFF2-40B4-BE49-F238E27FC236}">
                <a16:creationId xmlns:a16="http://schemas.microsoft.com/office/drawing/2014/main" id="{1D23510B-6D9A-4993-AD29-A44EDDA353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You can omit the </a:t>
            </a:r>
            <a:r>
              <a:rPr lang="en-US" altLang="en-US" i="1" dirty="0">
                <a:latin typeface="Courier New" panose="02070309020205020404" pitchFamily="49" charset="0"/>
              </a:rPr>
              <a:t>initialization</a:t>
            </a:r>
            <a:r>
              <a:rPr lang="en-US" altLang="en-US" dirty="0"/>
              <a:t> expression if it has already been done:</a:t>
            </a:r>
            <a:br>
              <a:rPr lang="en-US" altLang="en-US" dirty="0"/>
            </a:br>
            <a:endParaRPr lang="en-US" altLang="en-US" dirty="0">
              <a:latin typeface="Courier New" panose="02070309020205020404" pitchFamily="49" charset="0"/>
            </a:endParaRPr>
          </a:p>
          <a:p>
            <a:pPr>
              <a:buFont typeface="Times" panose="02020603050405020304" pitchFamily="18" charset="0"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		</a:t>
            </a:r>
            <a:r>
              <a:rPr lang="en-US" altLang="en-US" sz="2800" dirty="0">
                <a:latin typeface="Courier New" panose="02070309020205020404" pitchFamily="49" charset="0"/>
              </a:rPr>
              <a:t>int sum = 0, num = 1;</a:t>
            </a:r>
          </a:p>
          <a:p>
            <a:pPr>
              <a:buFont typeface="Times" panose="02020603050405020304" pitchFamily="18" charset="0"/>
              <a:buNone/>
            </a:pPr>
            <a:r>
              <a:rPr lang="en-US" altLang="en-US" sz="2800" dirty="0">
                <a:latin typeface="Courier New" panose="02070309020205020404" pitchFamily="49" charset="0"/>
              </a:rPr>
              <a:t>		for (; num &lt;= 10; num++)</a:t>
            </a:r>
          </a:p>
          <a:p>
            <a:pPr>
              <a:buFont typeface="Times" panose="02020603050405020304" pitchFamily="18" charset="0"/>
              <a:buNone/>
            </a:pPr>
            <a:r>
              <a:rPr lang="en-US" altLang="en-US" sz="2800" dirty="0">
                <a:latin typeface="Courier New" panose="02070309020205020404" pitchFamily="49" charset="0"/>
              </a:rPr>
              <a:t>			sum += num;</a:t>
            </a:r>
            <a:endParaRPr lang="en-US" altLang="en-US" sz="2800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C755AFF7-253B-4F1D-B8BE-7732441F9A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Courier New" panose="02070309020205020404" pitchFamily="49" charset="0"/>
              </a:rPr>
              <a:t>for</a:t>
            </a:r>
            <a:r>
              <a:rPr lang="en-US" altLang="en-US" dirty="0"/>
              <a:t> Loop – Modifications (4 of 4)</a:t>
            </a:r>
          </a:p>
        </p:txBody>
      </p:sp>
      <p:sp>
        <p:nvSpPr>
          <p:cNvPr id="55299" name="Content Placeholder 2" descr="You can declare variables in the initialization expression">
            <a:extLst>
              <a:ext uri="{FF2B5EF4-FFF2-40B4-BE49-F238E27FC236}">
                <a16:creationId xmlns:a16="http://schemas.microsoft.com/office/drawing/2014/main" id="{A92F2F9F-446D-41B2-92EC-ED56F569F9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You can declare variables in the </a:t>
            </a:r>
            <a:r>
              <a:rPr lang="en-US" altLang="en-US" i="1" dirty="0">
                <a:latin typeface="Courier New" panose="02070309020205020404" pitchFamily="49" charset="0"/>
              </a:rPr>
              <a:t>initialization </a:t>
            </a:r>
            <a:r>
              <a:rPr lang="en-US" altLang="en-US" dirty="0"/>
              <a:t>expression:</a:t>
            </a:r>
            <a:br>
              <a:rPr lang="en-US" altLang="en-US" dirty="0"/>
            </a:br>
            <a:endParaRPr lang="en-US" altLang="en-US" dirty="0"/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altLang="en-US" dirty="0"/>
              <a:t>	</a:t>
            </a:r>
            <a:r>
              <a:rPr lang="en-US" altLang="en-US" dirty="0">
                <a:latin typeface="Courier New" panose="02070309020205020404" pitchFamily="49" charset="0"/>
              </a:rPr>
              <a:t>int sum = 0;</a:t>
            </a:r>
            <a:endParaRPr lang="en-US" altLang="en-US" dirty="0"/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altLang="en-US" dirty="0"/>
              <a:t>	</a:t>
            </a:r>
            <a:r>
              <a:rPr lang="en-US" altLang="en-US" dirty="0">
                <a:latin typeface="Courier New" panose="02070309020205020404" pitchFamily="49" charset="0"/>
              </a:rPr>
              <a:t>for (int num = 0; num &lt;= 10; num++)</a:t>
            </a:r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altLang="en-US" dirty="0">
                <a:latin typeface="Courier New" panose="02070309020205020404" pitchFamily="49" charset="0"/>
              </a:rPr>
              <a:t>			sum += num;</a:t>
            </a:r>
            <a:br>
              <a:rPr lang="en-US" altLang="en-US" dirty="0">
                <a:latin typeface="Courier New" panose="02070309020205020404" pitchFamily="49" charset="0"/>
              </a:rPr>
            </a:br>
            <a:endParaRPr lang="en-US" altLang="en-US" dirty="0"/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altLang="en-US" dirty="0"/>
              <a:t>	The scope of the variable </a:t>
            </a:r>
            <a:r>
              <a:rPr lang="en-US" altLang="en-US" dirty="0">
                <a:latin typeface="Courier New" panose="02070309020205020404" pitchFamily="49" charset="0"/>
              </a:rPr>
              <a:t>num</a:t>
            </a:r>
            <a:r>
              <a:rPr lang="en-US" altLang="en-US" dirty="0"/>
              <a:t> is the </a:t>
            </a:r>
            <a:r>
              <a:rPr lang="en-US" altLang="en-US" dirty="0">
                <a:latin typeface="Courier New" panose="02070309020205020404" pitchFamily="49" charset="0"/>
              </a:rPr>
              <a:t>for</a:t>
            </a:r>
            <a:r>
              <a:rPr lang="en-US" altLang="en-US" dirty="0"/>
              <a:t> loop.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DCD2CC3D-6F35-4760-8D93-14D39DCD625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5.7</a:t>
            </a:r>
          </a:p>
        </p:txBody>
      </p:sp>
      <p:sp>
        <p:nvSpPr>
          <p:cNvPr id="56323" name="Subtitle 2">
            <a:extLst>
              <a:ext uri="{FF2B5EF4-FFF2-40B4-BE49-F238E27FC236}">
                <a16:creationId xmlns:a16="http://schemas.microsoft.com/office/drawing/2014/main" id="{44E733E0-CE20-4555-AFF7-4F7D724C9B3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/>
              <a:t>Keeping a Running Total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72E9E5C1-B6E2-427D-A6A7-D62F163D44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Keeping a Running Total</a:t>
            </a:r>
          </a:p>
        </p:txBody>
      </p:sp>
      <p:sp>
        <p:nvSpPr>
          <p:cNvPr id="57347" name="Content Placeholder 2" descr="Keeping a running total">
            <a:extLst>
              <a:ext uri="{FF2B5EF4-FFF2-40B4-BE49-F238E27FC236}">
                <a16:creationId xmlns:a16="http://schemas.microsoft.com/office/drawing/2014/main" id="{8B9CDEF6-20F3-4ADF-84EF-C0AF3D797C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 u="sng" dirty="0"/>
              <a:t>running total</a:t>
            </a:r>
            <a:r>
              <a:rPr lang="en-US" altLang="en-US" sz="2800" dirty="0"/>
              <a:t>: accumulated sum of numbers from each repetition of loop</a:t>
            </a:r>
          </a:p>
          <a:p>
            <a:pPr>
              <a:lnSpc>
                <a:spcPct val="80000"/>
              </a:lnSpc>
            </a:pPr>
            <a:r>
              <a:rPr lang="en-US" altLang="en-US" sz="2800" u="sng" dirty="0"/>
              <a:t>accumulator</a:t>
            </a:r>
            <a:r>
              <a:rPr lang="en-US" altLang="en-US" sz="2800" dirty="0"/>
              <a:t>: variable that holds running total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2600" dirty="0">
                <a:latin typeface="Courier New" panose="02070309020205020404" pitchFamily="49" charset="0"/>
              </a:rPr>
              <a:t>int sum=0, num=1; // sum is the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2600" dirty="0">
                <a:latin typeface="Courier New" panose="02070309020205020404" pitchFamily="49" charset="0"/>
              </a:rPr>
              <a:t>while (num &lt;= 10) // accumulator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2600" dirty="0">
                <a:latin typeface="Courier New" panose="02070309020205020404" pitchFamily="49" charset="0"/>
              </a:rPr>
              <a:t>{	  sum += num;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2600" dirty="0">
                <a:latin typeface="Courier New" panose="02070309020205020404" pitchFamily="49" charset="0"/>
              </a:rPr>
              <a:t>		 num++;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2600" dirty="0">
                <a:latin typeface="Courier New" panose="02070309020205020404" pitchFamily="49" charset="0"/>
              </a:rPr>
              <a:t>}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2600" dirty="0" err="1">
                <a:latin typeface="Courier New" panose="02070309020205020404" pitchFamily="49" charset="0"/>
              </a:rPr>
              <a:t>cout</a:t>
            </a:r>
            <a:r>
              <a:rPr lang="en-US" altLang="en-US" sz="2600" dirty="0">
                <a:latin typeface="Courier New" panose="02070309020205020404" pitchFamily="49" charset="0"/>
              </a:rPr>
              <a:t> &lt;&lt; "Sum of numbers 1 </a:t>
            </a:r>
            <a:r>
              <a:rPr lang="en-US" altLang="en-US" sz="2600" dirty="0"/>
              <a:t>–</a:t>
            </a:r>
            <a:r>
              <a:rPr lang="en-US" altLang="en-US" sz="2600" dirty="0">
                <a:latin typeface="Courier New" panose="02070309020205020404" pitchFamily="49" charset="0"/>
              </a:rPr>
              <a:t> 10 is"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2600" dirty="0">
                <a:latin typeface="Courier New" panose="02070309020205020404" pitchFamily="49" charset="0"/>
              </a:rPr>
              <a:t>     &lt;&lt; sum &lt;&lt; </a:t>
            </a:r>
            <a:r>
              <a:rPr lang="en-US" altLang="en-US" sz="2600" dirty="0" err="1">
                <a:latin typeface="Courier New" panose="02070309020205020404" pitchFamily="49" charset="0"/>
              </a:rPr>
              <a:t>endl</a:t>
            </a:r>
            <a:r>
              <a:rPr lang="en-US" altLang="en-US" sz="2600" dirty="0">
                <a:latin typeface="Courier New" panose="02070309020205020404" pitchFamily="49" charset="0"/>
              </a:rPr>
              <a:t>;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E985C-029E-4857-949D-220AC992F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Logic for Keeping a Running Total</a:t>
            </a:r>
          </a:p>
        </p:txBody>
      </p:sp>
      <p:pic>
        <p:nvPicPr>
          <p:cNvPr id="58371" name="Picture 2" descr="Figure 5-11 Logic for calculating a running total">
            <a:extLst>
              <a:ext uri="{FF2B5EF4-FFF2-40B4-BE49-F238E27FC236}">
                <a16:creationId xmlns:a16="http://schemas.microsoft.com/office/drawing/2014/main" id="{0EC7C585-8004-462D-8CD5-7D44EC1B8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38" y="1676400"/>
            <a:ext cx="7451725" cy="441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149F1-7144-4242-AB21-D31AA7CE4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A Running Total in Program 5-12 (1</a:t>
            </a:r>
            <a:r>
              <a:rPr lang="en-US" baseline="0" dirty="0"/>
              <a:t> of 2)</a:t>
            </a:r>
            <a:endParaRPr lang="en-US" dirty="0"/>
          </a:p>
        </p:txBody>
      </p:sp>
      <p:sp>
        <p:nvSpPr>
          <p:cNvPr id="59395" name="TextBox 5">
            <a:extLst>
              <a:ext uri="{FF2B5EF4-FFF2-40B4-BE49-F238E27FC236}">
                <a16:creationId xmlns:a16="http://schemas.microsoft.com/office/drawing/2014/main" id="{A49B0198-A164-4B56-BB48-7C7F09481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6019800"/>
            <a:ext cx="1466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Continued…</a:t>
            </a:r>
          </a:p>
        </p:txBody>
      </p:sp>
      <p:pic>
        <p:nvPicPr>
          <p:cNvPr id="59396" name="Picture 2" descr="Lines 1 through 13 of Program 5-12">
            <a:extLst>
              <a:ext uri="{FF2B5EF4-FFF2-40B4-BE49-F238E27FC236}">
                <a16:creationId xmlns:a16="http://schemas.microsoft.com/office/drawing/2014/main" id="{39E89FEC-1044-4C37-903E-019969E0E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676400"/>
            <a:ext cx="7470775" cy="353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86E27-ACEC-4716-80AE-DA03FC0A1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A Running Total in Program 5-12 (2 of 2)</a:t>
            </a:r>
          </a:p>
        </p:txBody>
      </p:sp>
      <p:pic>
        <p:nvPicPr>
          <p:cNvPr id="60419" name="Picture 2" descr="Lines 14 through 29 of Program 5-12 with sample output">
            <a:extLst>
              <a:ext uri="{FF2B5EF4-FFF2-40B4-BE49-F238E27FC236}">
                <a16:creationId xmlns:a16="http://schemas.microsoft.com/office/drawing/2014/main" id="{0A1CD314-6621-440A-86CF-9C8E6B2E9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95400"/>
            <a:ext cx="6553200" cy="5053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>
            <a:extLst>
              <a:ext uri="{FF2B5EF4-FFF2-40B4-BE49-F238E27FC236}">
                <a16:creationId xmlns:a16="http://schemas.microsoft.com/office/drawing/2014/main" id="{1A3D8B53-E804-487A-A425-75FE954308F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5.8</a:t>
            </a:r>
          </a:p>
        </p:txBody>
      </p:sp>
      <p:sp>
        <p:nvSpPr>
          <p:cNvPr id="61443" name="Subtitle 2">
            <a:extLst>
              <a:ext uri="{FF2B5EF4-FFF2-40B4-BE49-F238E27FC236}">
                <a16:creationId xmlns:a16="http://schemas.microsoft.com/office/drawing/2014/main" id="{74984C69-326A-451F-90FD-8CB2DC95E8C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/>
              <a:t>Sentinels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>
            <a:extLst>
              <a:ext uri="{FF2B5EF4-FFF2-40B4-BE49-F238E27FC236}">
                <a16:creationId xmlns:a16="http://schemas.microsoft.com/office/drawing/2014/main" id="{7C25A782-69E8-4481-BD14-D5CF1939B0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Sentinels</a:t>
            </a:r>
          </a:p>
        </p:txBody>
      </p:sp>
      <p:sp>
        <p:nvSpPr>
          <p:cNvPr id="62467" name="Content Placeholder 2" descr="Sentinels">
            <a:extLst>
              <a:ext uri="{FF2B5EF4-FFF2-40B4-BE49-F238E27FC236}">
                <a16:creationId xmlns:a16="http://schemas.microsoft.com/office/drawing/2014/main" id="{72E6960D-6A41-48B5-97EE-5CD02778C9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u="sng" dirty="0"/>
              <a:t>sentinel</a:t>
            </a:r>
            <a:r>
              <a:rPr lang="en-US" altLang="en-US" dirty="0"/>
              <a:t>: value in a list of values that indicates end of data</a:t>
            </a:r>
            <a:br>
              <a:rPr lang="en-US" altLang="en-US" dirty="0"/>
            </a:b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Special value that cannot be confused with a valid value, </a:t>
            </a:r>
            <a:r>
              <a:rPr lang="en-US" altLang="en-US" i="1" dirty="0"/>
              <a:t>e.g.</a:t>
            </a:r>
            <a:r>
              <a:rPr lang="en-US" altLang="en-US" dirty="0"/>
              <a:t>, </a:t>
            </a:r>
            <a:r>
              <a:rPr lang="en-US" altLang="en-US" dirty="0">
                <a:latin typeface="Courier New" panose="02070309020205020404" pitchFamily="49" charset="0"/>
              </a:rPr>
              <a:t>-999</a:t>
            </a:r>
            <a:r>
              <a:rPr lang="en-US" altLang="en-US" dirty="0"/>
              <a:t> for a test score</a:t>
            </a:r>
            <a:br>
              <a:rPr lang="en-US" altLang="en-US" dirty="0"/>
            </a:b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Used to terminate input when user may not know how many values will be entered</a:t>
            </a:r>
            <a:endParaRPr lang="en-US" altLang="en-US" u="sng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>
            <a:extLst>
              <a:ext uri="{FF2B5EF4-FFF2-40B4-BE49-F238E27FC236}">
                <a16:creationId xmlns:a16="http://schemas.microsoft.com/office/drawing/2014/main" id="{A61AE690-B61A-4493-98AC-60F61767A5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 Sentinel in Program 5-13 (1 of 2)</a:t>
            </a:r>
          </a:p>
        </p:txBody>
      </p:sp>
      <p:pic>
        <p:nvPicPr>
          <p:cNvPr id="63491" name="Picture 4" descr="Program 5-13">
            <a:extLst>
              <a:ext uri="{FF2B5EF4-FFF2-40B4-BE49-F238E27FC236}">
                <a16:creationId xmlns:a16="http://schemas.microsoft.com/office/drawing/2014/main" id="{D7907706-6DAD-433B-B054-A6987CAC72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100" y="1295400"/>
            <a:ext cx="6019800" cy="479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2" name="TextBox 4">
            <a:extLst>
              <a:ext uri="{FF2B5EF4-FFF2-40B4-BE49-F238E27FC236}">
                <a16:creationId xmlns:a16="http://schemas.microsoft.com/office/drawing/2014/main" id="{7CBEF9A3-3277-4CA6-B3E7-08AEDCDD5A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6019800"/>
            <a:ext cx="1466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Continued…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>
            <a:extLst>
              <a:ext uri="{FF2B5EF4-FFF2-40B4-BE49-F238E27FC236}">
                <a16:creationId xmlns:a16="http://schemas.microsoft.com/office/drawing/2014/main" id="{1A329327-2634-4C65-B39F-561364A756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 Sentinel in Program 5-13 (2 of 2)</a:t>
            </a:r>
          </a:p>
        </p:txBody>
      </p:sp>
      <p:pic>
        <p:nvPicPr>
          <p:cNvPr id="64515" name="Picture 2" descr="Sample output from Program 5-13">
            <a:extLst>
              <a:ext uri="{FF2B5EF4-FFF2-40B4-BE49-F238E27FC236}">
                <a16:creationId xmlns:a16="http://schemas.microsoft.com/office/drawing/2014/main" id="{8056920A-C6A2-4533-9946-7EE8FE6B0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" y="1779588"/>
            <a:ext cx="6934200" cy="263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>
            <a:extLst>
              <a:ext uri="{FF2B5EF4-FFF2-40B4-BE49-F238E27FC236}">
                <a16:creationId xmlns:a16="http://schemas.microsoft.com/office/drawing/2014/main" id="{85E40395-56EA-4439-8D3F-83C62764216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5.9</a:t>
            </a:r>
          </a:p>
        </p:txBody>
      </p:sp>
      <p:sp>
        <p:nvSpPr>
          <p:cNvPr id="65539" name="Subtitle 2">
            <a:extLst>
              <a:ext uri="{FF2B5EF4-FFF2-40B4-BE49-F238E27FC236}">
                <a16:creationId xmlns:a16="http://schemas.microsoft.com/office/drawing/2014/main" id="{1FE724B3-F269-4634-88C2-0F131459532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/>
              <a:t>Deciding Which Loop to Use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>
            <a:extLst>
              <a:ext uri="{FF2B5EF4-FFF2-40B4-BE49-F238E27FC236}">
                <a16:creationId xmlns:a16="http://schemas.microsoft.com/office/drawing/2014/main" id="{1F2D6C90-6D1D-42E5-B53B-A0DBE00DBC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Deciding Which Loop to Use</a:t>
            </a:r>
          </a:p>
        </p:txBody>
      </p:sp>
      <p:sp>
        <p:nvSpPr>
          <p:cNvPr id="3" name="Content Placeholder 2" descr="Deciding which loop to use">
            <a:extLst>
              <a:ext uri="{FF2B5EF4-FFF2-40B4-BE49-F238E27FC236}">
                <a16:creationId xmlns:a16="http://schemas.microsoft.com/office/drawing/2014/main" id="{4A7871A4-2802-4789-8175-63EED936C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dirty="0"/>
              <a:t>The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dirty="0"/>
              <a:t> loop is a conditional pretest loop </a:t>
            </a:r>
          </a:p>
          <a:p>
            <a:pPr lvl="1">
              <a:defRPr/>
            </a:pPr>
            <a:r>
              <a:rPr lang="en-US" dirty="0"/>
              <a:t>Iterates as long as a certain condition exits</a:t>
            </a:r>
          </a:p>
          <a:p>
            <a:pPr lvl="1">
              <a:defRPr/>
            </a:pPr>
            <a:r>
              <a:rPr lang="en-US" dirty="0"/>
              <a:t>Validating input</a:t>
            </a:r>
          </a:p>
          <a:p>
            <a:pPr lvl="1">
              <a:defRPr/>
            </a:pPr>
            <a:r>
              <a:rPr lang="en-US" dirty="0"/>
              <a:t>Reading lists of data terminated by a sentinel</a:t>
            </a:r>
            <a:br>
              <a:rPr lang="en-US" dirty="0"/>
            </a:br>
            <a:endParaRPr lang="en-US" dirty="0"/>
          </a:p>
          <a:p>
            <a:pPr>
              <a:defRPr/>
            </a:pPr>
            <a:r>
              <a:rPr lang="en-US" dirty="0"/>
              <a:t>The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do-while</a:t>
            </a:r>
            <a:r>
              <a:rPr lang="en-US" dirty="0"/>
              <a:t> loop is a conditional posttest loop </a:t>
            </a:r>
          </a:p>
          <a:p>
            <a:pPr lvl="1">
              <a:defRPr/>
            </a:pPr>
            <a:r>
              <a:rPr lang="en-US" dirty="0"/>
              <a:t>Always iterates at least once</a:t>
            </a:r>
          </a:p>
          <a:p>
            <a:pPr lvl="1">
              <a:defRPr/>
            </a:pPr>
            <a:r>
              <a:rPr lang="en-US" dirty="0"/>
              <a:t>Repeating a menu</a:t>
            </a:r>
            <a:br>
              <a:rPr lang="en-US" dirty="0"/>
            </a:br>
            <a:endParaRPr lang="en-US" dirty="0"/>
          </a:p>
          <a:p>
            <a:pPr>
              <a:defRPr/>
            </a:pPr>
            <a:r>
              <a:rPr lang="en-US" dirty="0"/>
              <a:t>The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dirty="0"/>
              <a:t> loop is a pretest loop</a:t>
            </a:r>
          </a:p>
          <a:p>
            <a:pPr lvl="1">
              <a:defRPr/>
            </a:pPr>
            <a:r>
              <a:rPr lang="en-US" dirty="0">
                <a:ea typeface="+mn-ea"/>
              </a:rPr>
              <a:t>Built-in expressions for initializing, testing, and updating</a:t>
            </a:r>
            <a:endParaRPr lang="en-US" dirty="0"/>
          </a:p>
          <a:p>
            <a:pPr lvl="1">
              <a:defRPr/>
            </a:pPr>
            <a:r>
              <a:rPr lang="en-US" dirty="0"/>
              <a:t>Situations where the exact number of iterations is known</a:t>
            </a: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>
            <a:extLst>
              <a:ext uri="{FF2B5EF4-FFF2-40B4-BE49-F238E27FC236}">
                <a16:creationId xmlns:a16="http://schemas.microsoft.com/office/drawing/2014/main" id="{102F02E5-EAE1-4821-B0EB-44667AAAF61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5.10</a:t>
            </a:r>
          </a:p>
        </p:txBody>
      </p:sp>
      <p:sp>
        <p:nvSpPr>
          <p:cNvPr id="67587" name="Subtitle 2">
            <a:extLst>
              <a:ext uri="{FF2B5EF4-FFF2-40B4-BE49-F238E27FC236}">
                <a16:creationId xmlns:a16="http://schemas.microsoft.com/office/drawing/2014/main" id="{F35D25F9-36DB-4952-98F7-2B0C03182B3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/>
              <a:t>Nested Loops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>
            <a:extLst>
              <a:ext uri="{FF2B5EF4-FFF2-40B4-BE49-F238E27FC236}">
                <a16:creationId xmlns:a16="http://schemas.microsoft.com/office/drawing/2014/main" id="{C6B2A1C2-AE26-4290-93D0-F5165479EA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Nested Loops</a:t>
            </a:r>
          </a:p>
        </p:txBody>
      </p:sp>
      <p:sp>
        <p:nvSpPr>
          <p:cNvPr id="68611" name="Content Placeholder 2" descr="Nested loops">
            <a:extLst>
              <a:ext uri="{FF2B5EF4-FFF2-40B4-BE49-F238E27FC236}">
                <a16:creationId xmlns:a16="http://schemas.microsoft.com/office/drawing/2014/main" id="{779C2B55-5FF8-4D62-BC5F-E6761F6C60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 </a:t>
            </a:r>
            <a:r>
              <a:rPr lang="en-US" altLang="en-US" u="sng" dirty="0"/>
              <a:t>nested loop</a:t>
            </a:r>
            <a:r>
              <a:rPr lang="en-US" altLang="en-US" dirty="0"/>
              <a:t> is a loop inside the body of another loop</a:t>
            </a:r>
          </a:p>
          <a:p>
            <a:r>
              <a:rPr lang="en-US" altLang="en-US" u="sng" dirty="0"/>
              <a:t>Inner </a:t>
            </a:r>
            <a:r>
              <a:rPr lang="en-US" altLang="en-US" dirty="0"/>
              <a:t>(inside), </a:t>
            </a:r>
            <a:r>
              <a:rPr lang="en-US" altLang="en-US" u="sng" dirty="0"/>
              <a:t>outer</a:t>
            </a:r>
            <a:r>
              <a:rPr lang="en-US" altLang="en-US" dirty="0"/>
              <a:t> (outside) loops:</a:t>
            </a:r>
            <a:br>
              <a:rPr lang="en-US" altLang="en-US" dirty="0"/>
            </a:br>
            <a:endParaRPr lang="en-US" altLang="en-US" dirty="0"/>
          </a:p>
          <a:p>
            <a:pPr lvl="1">
              <a:buFontTx/>
              <a:buNone/>
            </a:pPr>
            <a:r>
              <a:rPr lang="en-US" altLang="en-US" dirty="0">
                <a:latin typeface="Courier New" panose="02070309020205020404" pitchFamily="49" charset="0"/>
              </a:rPr>
              <a:t>for (row=1; row&lt;=3; row++) </a:t>
            </a:r>
            <a:r>
              <a:rPr lang="en-US" altLang="en-US" dirty="0"/>
              <a:t> </a:t>
            </a:r>
            <a:r>
              <a:rPr lang="en-US" altLang="en-US" dirty="0">
                <a:latin typeface="Courier New" panose="02070309020205020404" pitchFamily="49" charset="0"/>
              </a:rPr>
              <a:t>//outer</a:t>
            </a:r>
          </a:p>
          <a:p>
            <a:pPr lvl="1">
              <a:buFontTx/>
              <a:buNone/>
            </a:pPr>
            <a:r>
              <a:rPr lang="en-US" altLang="en-US" dirty="0">
                <a:latin typeface="Courier New" panose="02070309020205020404" pitchFamily="49" charset="0"/>
              </a:rPr>
              <a:t>	for (col=1; col&lt;=3; col++)//inner</a:t>
            </a:r>
          </a:p>
          <a:p>
            <a:pPr lvl="1">
              <a:buFontTx/>
              <a:buNone/>
            </a:pPr>
            <a:r>
              <a:rPr lang="en-US" altLang="en-US" dirty="0">
                <a:latin typeface="Courier New" panose="02070309020205020404" pitchFamily="49" charset="0"/>
              </a:rPr>
              <a:t>		  </a:t>
            </a:r>
            <a:r>
              <a:rPr lang="en-US" altLang="en-US" dirty="0" err="1">
                <a:latin typeface="Courier New" panose="02070309020205020404" pitchFamily="49" charset="0"/>
              </a:rPr>
              <a:t>cout</a:t>
            </a:r>
            <a:r>
              <a:rPr lang="en-US" altLang="en-US" dirty="0">
                <a:latin typeface="Courier New" panose="02070309020205020404" pitchFamily="49" charset="0"/>
              </a:rPr>
              <a:t> &lt;&lt; row * col &lt;&lt; </a:t>
            </a:r>
            <a:r>
              <a:rPr lang="en-US" altLang="en-US" dirty="0" err="1">
                <a:latin typeface="Courier New" panose="02070309020205020404" pitchFamily="49" charset="0"/>
              </a:rPr>
              <a:t>endl</a:t>
            </a:r>
            <a:r>
              <a:rPr lang="en-US" altLang="en-US" dirty="0">
                <a:latin typeface="Courier New" panose="02070309020205020404" pitchFamily="49" charset="0"/>
              </a:rPr>
              <a:t>;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E53D5-5D95-450A-A21E-E4CF5EA92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Nested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dirty="0"/>
              <a:t> Loop in Program 5-14</a:t>
            </a:r>
          </a:p>
        </p:txBody>
      </p:sp>
      <p:pic>
        <p:nvPicPr>
          <p:cNvPr id="69635" name="Picture 2" descr="Nested for loop in Program 5-14">
            <a:extLst>
              <a:ext uri="{FF2B5EF4-FFF2-40B4-BE49-F238E27FC236}">
                <a16:creationId xmlns:a16="http://schemas.microsoft.com/office/drawing/2014/main" id="{462EE82F-92E8-40DC-BDC2-7147EFB14F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575" y="1743075"/>
            <a:ext cx="7054850" cy="366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6" name="Rectangle 5" descr="Rectangle enclosing the inner for loop, lines 30 through 37 of program 5-14">
            <a:extLst>
              <a:ext uri="{FF2B5EF4-FFF2-40B4-BE49-F238E27FC236}">
                <a16:creationId xmlns:a16="http://schemas.microsoft.com/office/drawing/2014/main" id="{9C7B353C-1F65-498C-9FE7-FB931BFC9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2667000"/>
            <a:ext cx="5105400" cy="1828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69637" name="Rectangle 5" descr="Rectangle enclosing lines 27 through 41 of Program 5-14 highlighting the outer loop">
            <a:extLst>
              <a:ext uri="{FF2B5EF4-FFF2-40B4-BE49-F238E27FC236}">
                <a16:creationId xmlns:a16="http://schemas.microsoft.com/office/drawing/2014/main" id="{2A682E6C-D3A3-46E5-9351-AB30182AAF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981200"/>
            <a:ext cx="6324600" cy="3429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69638" name="Text Box 4">
            <a:extLst>
              <a:ext uri="{FF2B5EF4-FFF2-40B4-BE49-F238E27FC236}">
                <a16:creationId xmlns:a16="http://schemas.microsoft.com/office/drawing/2014/main" id="{AF7E583F-A65F-4F3B-B995-F0BCEEC92D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4114800"/>
            <a:ext cx="1371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/>
              <a:t>Inner Loop</a:t>
            </a:r>
          </a:p>
        </p:txBody>
      </p:sp>
      <p:sp>
        <p:nvSpPr>
          <p:cNvPr id="69639" name="Text Box 4">
            <a:extLst>
              <a:ext uri="{FF2B5EF4-FFF2-40B4-BE49-F238E27FC236}">
                <a16:creationId xmlns:a16="http://schemas.microsoft.com/office/drawing/2014/main" id="{97E7F376-3076-49F2-8054-12513F1DE2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5029200"/>
            <a:ext cx="1371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/>
              <a:t>Outer Loop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>
            <a:extLst>
              <a:ext uri="{FF2B5EF4-FFF2-40B4-BE49-F238E27FC236}">
                <a16:creationId xmlns:a16="http://schemas.microsoft.com/office/drawing/2014/main" id="{D98C5296-8ACF-4FDF-B31E-4DDE8C9E20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Nested Loops - Notes</a:t>
            </a:r>
          </a:p>
        </p:txBody>
      </p:sp>
      <p:sp>
        <p:nvSpPr>
          <p:cNvPr id="70659" name="Content Placeholder 2" descr="Notes on nested loops">
            <a:extLst>
              <a:ext uri="{FF2B5EF4-FFF2-40B4-BE49-F238E27FC236}">
                <a16:creationId xmlns:a16="http://schemas.microsoft.com/office/drawing/2014/main" id="{C9808000-7436-4FA6-AC4B-E680485B85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Inner loop goes through all repetitions for each repetition of outer loop</a:t>
            </a:r>
            <a:br>
              <a:rPr lang="en-US" altLang="en-US" dirty="0"/>
            </a:b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Inner loop repetitions complete sooner than outer loop</a:t>
            </a:r>
            <a:br>
              <a:rPr lang="en-US" altLang="en-US" dirty="0"/>
            </a:b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Total number of repetitions for inner loop is product of number of repetitions of the two loops.  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>
            <a:extLst>
              <a:ext uri="{FF2B5EF4-FFF2-40B4-BE49-F238E27FC236}">
                <a16:creationId xmlns:a16="http://schemas.microsoft.com/office/drawing/2014/main" id="{4C8304F4-182B-4424-8F00-C72B0907DD1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5.11</a:t>
            </a:r>
          </a:p>
        </p:txBody>
      </p:sp>
      <p:sp>
        <p:nvSpPr>
          <p:cNvPr id="71683" name="Subtitle 2">
            <a:extLst>
              <a:ext uri="{FF2B5EF4-FFF2-40B4-BE49-F238E27FC236}">
                <a16:creationId xmlns:a16="http://schemas.microsoft.com/office/drawing/2014/main" id="{B77E6D1C-5441-4AE3-A99B-B5171ABF230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/>
              <a:t>Using Files for Data Storage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>
            <a:extLst>
              <a:ext uri="{FF2B5EF4-FFF2-40B4-BE49-F238E27FC236}">
                <a16:creationId xmlns:a16="http://schemas.microsoft.com/office/drawing/2014/main" id="{77FFAE60-1770-40F5-B836-3F83516215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Using Files for Data Storage</a:t>
            </a:r>
          </a:p>
        </p:txBody>
      </p:sp>
      <p:sp>
        <p:nvSpPr>
          <p:cNvPr id="72707" name="Content Placeholder 2" descr="Using files for data storage">
            <a:extLst>
              <a:ext uri="{FF2B5EF4-FFF2-40B4-BE49-F238E27FC236}">
                <a16:creationId xmlns:a16="http://schemas.microsoft.com/office/drawing/2014/main" id="{FDFEF60C-B7A9-4D9B-9F0E-B7792FAA57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Can use files instead of keyboard, monitor screen for program input, output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Allows data to be retained between program runs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Steps:</a:t>
            </a:r>
          </a:p>
          <a:p>
            <a:pPr lvl="1">
              <a:lnSpc>
                <a:spcPct val="90000"/>
              </a:lnSpc>
            </a:pPr>
            <a:r>
              <a:rPr lang="en-US" altLang="en-US" i="1" dirty="0"/>
              <a:t>Open</a:t>
            </a:r>
            <a:r>
              <a:rPr lang="en-US" altLang="en-US" dirty="0"/>
              <a:t> the file</a:t>
            </a:r>
          </a:p>
          <a:p>
            <a:pPr lvl="1">
              <a:lnSpc>
                <a:spcPct val="90000"/>
              </a:lnSpc>
            </a:pPr>
            <a:r>
              <a:rPr lang="en-US" altLang="en-US" i="1" dirty="0"/>
              <a:t>Use</a:t>
            </a:r>
            <a:r>
              <a:rPr lang="en-US" altLang="en-US" dirty="0"/>
              <a:t> the file (read from, write to, or both)</a:t>
            </a:r>
          </a:p>
          <a:p>
            <a:pPr lvl="1">
              <a:lnSpc>
                <a:spcPct val="90000"/>
              </a:lnSpc>
            </a:pPr>
            <a:r>
              <a:rPr lang="en-US" altLang="en-US" i="1" dirty="0"/>
              <a:t>Close</a:t>
            </a:r>
            <a:r>
              <a:rPr lang="en-US" altLang="en-US" dirty="0"/>
              <a:t> the file</a:t>
            </a:r>
            <a:endParaRPr lang="en-US" altLang="en-US" i="1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>
            <a:extLst>
              <a:ext uri="{FF2B5EF4-FFF2-40B4-BE49-F238E27FC236}">
                <a16:creationId xmlns:a16="http://schemas.microsoft.com/office/drawing/2014/main" id="{75DA287E-E9A3-486B-9923-B7B06E7E63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Files: What is Needed</a:t>
            </a:r>
          </a:p>
        </p:txBody>
      </p:sp>
      <p:sp>
        <p:nvSpPr>
          <p:cNvPr id="73731" name="Content Placeholder 2" descr="What is needed for using files">
            <a:extLst>
              <a:ext uri="{FF2B5EF4-FFF2-40B4-BE49-F238E27FC236}">
                <a16:creationId xmlns:a16="http://schemas.microsoft.com/office/drawing/2014/main" id="{369FF341-BBDE-4F7A-A621-A3A1B3B31C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Use </a:t>
            </a:r>
            <a:r>
              <a:rPr lang="en-US" altLang="en-US" dirty="0" err="1">
                <a:latin typeface="Courier New" panose="02070309020205020404" pitchFamily="49" charset="0"/>
              </a:rPr>
              <a:t>fstream</a:t>
            </a:r>
            <a:r>
              <a:rPr lang="en-US" altLang="en-US" dirty="0"/>
              <a:t> header file for file access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File stream types: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altLang="en-US" dirty="0"/>
              <a:t>	</a:t>
            </a:r>
            <a:r>
              <a:rPr lang="en-US" altLang="en-US" dirty="0" err="1">
                <a:latin typeface="Courier New" panose="02070309020205020404" pitchFamily="49" charset="0"/>
              </a:rPr>
              <a:t>ifstream</a:t>
            </a:r>
            <a:r>
              <a:rPr lang="en-US" altLang="en-US" dirty="0"/>
              <a:t> for input from a file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altLang="en-US" dirty="0"/>
              <a:t>	</a:t>
            </a:r>
            <a:r>
              <a:rPr lang="en-US" altLang="en-US" dirty="0" err="1">
                <a:latin typeface="Courier New" panose="02070309020205020404" pitchFamily="49" charset="0"/>
              </a:rPr>
              <a:t>ofstream</a:t>
            </a:r>
            <a:r>
              <a:rPr lang="en-US" altLang="en-US" dirty="0"/>
              <a:t> for output to a file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altLang="en-US" dirty="0"/>
              <a:t>	</a:t>
            </a:r>
            <a:r>
              <a:rPr lang="en-US" altLang="en-US" dirty="0" err="1">
                <a:latin typeface="Courier New" panose="02070309020205020404" pitchFamily="49" charset="0"/>
              </a:rPr>
              <a:t>fstream</a:t>
            </a:r>
            <a:r>
              <a:rPr lang="en-US" altLang="en-US" dirty="0"/>
              <a:t> for input from or output to a file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Define file stream objects: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altLang="en-US" dirty="0"/>
              <a:t>	</a:t>
            </a:r>
            <a:r>
              <a:rPr lang="en-US" altLang="en-US" dirty="0" err="1">
                <a:latin typeface="Courier New" panose="02070309020205020404" pitchFamily="49" charset="0"/>
              </a:rPr>
              <a:t>ifstream</a:t>
            </a:r>
            <a:r>
              <a:rPr lang="en-US" altLang="en-US" dirty="0">
                <a:latin typeface="Courier New" panose="02070309020205020404" pitchFamily="49" charset="0"/>
              </a:rPr>
              <a:t> </a:t>
            </a:r>
            <a:r>
              <a:rPr lang="en-US" altLang="en-US" dirty="0" err="1">
                <a:latin typeface="Courier New" panose="02070309020205020404" pitchFamily="49" charset="0"/>
              </a:rPr>
              <a:t>infile</a:t>
            </a:r>
            <a:r>
              <a:rPr lang="en-US" altLang="en-US" dirty="0">
                <a:latin typeface="Courier New" panose="02070309020205020404" pitchFamily="49" charset="0"/>
              </a:rPr>
              <a:t>;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altLang="en-US" dirty="0">
                <a:latin typeface="Courier New" panose="02070309020205020404" pitchFamily="49" charset="0"/>
              </a:rPr>
              <a:t>	</a:t>
            </a:r>
            <a:r>
              <a:rPr lang="en-US" altLang="en-US" dirty="0" err="1">
                <a:latin typeface="Courier New" panose="02070309020205020404" pitchFamily="49" charset="0"/>
              </a:rPr>
              <a:t>ofstream</a:t>
            </a:r>
            <a:r>
              <a:rPr lang="en-US" altLang="en-US" dirty="0">
                <a:latin typeface="Courier New" panose="02070309020205020404" pitchFamily="49" charset="0"/>
              </a:rPr>
              <a:t> </a:t>
            </a:r>
            <a:r>
              <a:rPr lang="en-US" altLang="en-US" dirty="0" err="1">
                <a:latin typeface="Courier New" panose="02070309020205020404" pitchFamily="49" charset="0"/>
              </a:rPr>
              <a:t>outfile</a:t>
            </a:r>
            <a:r>
              <a:rPr lang="en-US" altLang="en-US" dirty="0">
                <a:latin typeface="Courier New" panose="02070309020205020404" pitchFamily="49" charset="0"/>
              </a:rPr>
              <a:t>;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>
            <a:extLst>
              <a:ext uri="{FF2B5EF4-FFF2-40B4-BE49-F238E27FC236}">
                <a16:creationId xmlns:a16="http://schemas.microsoft.com/office/drawing/2014/main" id="{DC001802-FF4A-4647-B3C3-9FDABCB6DE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Opening Files</a:t>
            </a:r>
          </a:p>
        </p:txBody>
      </p:sp>
      <p:sp>
        <p:nvSpPr>
          <p:cNvPr id="74755" name="Content Placeholder 2" descr="Opening files">
            <a:extLst>
              <a:ext uri="{FF2B5EF4-FFF2-40B4-BE49-F238E27FC236}">
                <a16:creationId xmlns:a16="http://schemas.microsoft.com/office/drawing/2014/main" id="{22DBF7D4-B653-4EB2-B6C7-19F5BFFC9C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Create a link between file name (outside the program) and file stream object (inside the program)</a:t>
            </a:r>
          </a:p>
          <a:p>
            <a:pPr>
              <a:lnSpc>
                <a:spcPct val="90000"/>
              </a:lnSpc>
            </a:pPr>
            <a:r>
              <a:rPr lang="en-US" altLang="en-US" sz="2400" dirty="0"/>
              <a:t>Use the </a:t>
            </a:r>
            <a:r>
              <a:rPr lang="en-US" altLang="en-US" sz="2400" dirty="0">
                <a:latin typeface="Courier New" panose="02070309020205020404" pitchFamily="49" charset="0"/>
              </a:rPr>
              <a:t>open</a:t>
            </a:r>
            <a:r>
              <a:rPr lang="en-US" altLang="en-US" sz="2400" dirty="0"/>
              <a:t> member function:</a:t>
            </a:r>
            <a:endParaRPr lang="en-US" altLang="en-US" sz="2400" dirty="0">
              <a:latin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	</a:t>
            </a:r>
            <a:r>
              <a:rPr lang="en-US" altLang="en-US" sz="2000" dirty="0" err="1">
                <a:latin typeface="Courier New" panose="02070309020205020404" pitchFamily="49" charset="0"/>
              </a:rPr>
              <a:t>infile.open</a:t>
            </a:r>
            <a:r>
              <a:rPr lang="en-US" altLang="en-US" sz="2000" dirty="0">
                <a:latin typeface="Courier New" panose="02070309020205020404" pitchFamily="49" charset="0"/>
              </a:rPr>
              <a:t>("inventory.dat");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	</a:t>
            </a:r>
            <a:r>
              <a:rPr lang="en-US" altLang="en-US" sz="2000" dirty="0" err="1">
                <a:latin typeface="Courier New" panose="02070309020205020404" pitchFamily="49" charset="0"/>
              </a:rPr>
              <a:t>outfile.open</a:t>
            </a:r>
            <a:r>
              <a:rPr lang="en-US" altLang="en-US" sz="2000" dirty="0">
                <a:latin typeface="Courier New" panose="02070309020205020404" pitchFamily="49" charset="0"/>
              </a:rPr>
              <a:t>("report.txt");</a:t>
            </a:r>
          </a:p>
          <a:p>
            <a:pPr>
              <a:lnSpc>
                <a:spcPct val="90000"/>
              </a:lnSpc>
            </a:pPr>
            <a:r>
              <a:rPr lang="en-US" altLang="en-US" sz="2400" dirty="0"/>
              <a:t>Filename may include drive, path info.</a:t>
            </a:r>
          </a:p>
          <a:p>
            <a:pPr>
              <a:lnSpc>
                <a:spcPct val="90000"/>
              </a:lnSpc>
            </a:pPr>
            <a:r>
              <a:rPr lang="en-US" altLang="en-US" sz="2400" dirty="0"/>
              <a:t>Output file will be created if necessary; existing file will be erased first</a:t>
            </a:r>
          </a:p>
          <a:p>
            <a:pPr>
              <a:lnSpc>
                <a:spcPct val="90000"/>
              </a:lnSpc>
            </a:pPr>
            <a:r>
              <a:rPr lang="en-US" altLang="en-US" sz="2400" dirty="0"/>
              <a:t>Input file must exist for </a:t>
            </a:r>
            <a:r>
              <a:rPr lang="en-US" altLang="en-US" sz="2400" dirty="0">
                <a:latin typeface="Courier New" panose="02070309020205020404" pitchFamily="49" charset="0"/>
              </a:rPr>
              <a:t>open</a:t>
            </a:r>
            <a:r>
              <a:rPr lang="en-US" altLang="en-US" sz="2400" dirty="0"/>
              <a:t> to work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>
            <a:extLst>
              <a:ext uri="{FF2B5EF4-FFF2-40B4-BE49-F238E27FC236}">
                <a16:creationId xmlns:a16="http://schemas.microsoft.com/office/drawing/2014/main" id="{B3612948-6E88-4049-ACAE-322CFDF0ED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Testing for File Open Errors</a:t>
            </a:r>
          </a:p>
        </p:txBody>
      </p:sp>
      <p:sp>
        <p:nvSpPr>
          <p:cNvPr id="75779" name="Content Placeholder 2" descr="Testing for file open errors">
            <a:extLst>
              <a:ext uri="{FF2B5EF4-FFF2-40B4-BE49-F238E27FC236}">
                <a16:creationId xmlns:a16="http://schemas.microsoft.com/office/drawing/2014/main" id="{B61C01E8-D3B7-4750-85EF-22B145B0F6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Can test a file stream object to detect if an open operation failed: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400" dirty="0"/>
              <a:t>	</a:t>
            </a:r>
            <a:r>
              <a:rPr lang="en-US" altLang="en-US" sz="2400" dirty="0" err="1">
                <a:latin typeface="Courier New" panose="02070309020205020404" pitchFamily="49" charset="0"/>
              </a:rPr>
              <a:t>infile.open</a:t>
            </a:r>
            <a:r>
              <a:rPr lang="en-US" altLang="en-US" sz="2400" dirty="0">
                <a:latin typeface="Courier New" panose="02070309020205020404" pitchFamily="49" charset="0"/>
              </a:rPr>
              <a:t>("test.txt");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	if (!</a:t>
            </a:r>
            <a:r>
              <a:rPr lang="en-US" altLang="en-US" sz="2400" dirty="0" err="1">
                <a:latin typeface="Courier New" panose="02070309020205020404" pitchFamily="49" charset="0"/>
              </a:rPr>
              <a:t>infile</a:t>
            </a:r>
            <a:r>
              <a:rPr lang="en-US" altLang="en-US" sz="2400" dirty="0">
                <a:latin typeface="Courier New" panose="02070309020205020404" pitchFamily="49" charset="0"/>
              </a:rPr>
              <a:t>)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	{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		 </a:t>
            </a:r>
            <a:r>
              <a:rPr lang="en-US" altLang="en-US" sz="2400" dirty="0" err="1">
                <a:latin typeface="Courier New" panose="02070309020205020404" pitchFamily="49" charset="0"/>
              </a:rPr>
              <a:t>cout</a:t>
            </a:r>
            <a:r>
              <a:rPr lang="en-US" altLang="en-US" sz="2400" dirty="0">
                <a:latin typeface="Courier New" panose="02070309020205020404" pitchFamily="49" charset="0"/>
              </a:rPr>
              <a:t> &lt;&lt; "File open failure!";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	}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Can also use the </a:t>
            </a:r>
            <a:r>
              <a:rPr lang="en-US" altLang="en-US" sz="2800" dirty="0">
                <a:latin typeface="Courier New" panose="02070309020205020404" pitchFamily="49" charset="0"/>
              </a:rPr>
              <a:t>fail</a:t>
            </a:r>
            <a:r>
              <a:rPr lang="en-US" altLang="en-US" sz="2800" dirty="0"/>
              <a:t> member function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>
            <a:extLst>
              <a:ext uri="{FF2B5EF4-FFF2-40B4-BE49-F238E27FC236}">
                <a16:creationId xmlns:a16="http://schemas.microsoft.com/office/drawing/2014/main" id="{737FC6FD-A01F-4067-A6DD-8F92688CA2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Using Files</a:t>
            </a:r>
          </a:p>
        </p:txBody>
      </p:sp>
      <p:sp>
        <p:nvSpPr>
          <p:cNvPr id="76803" name="Content Placeholder 2" descr="Using files">
            <a:extLst>
              <a:ext uri="{FF2B5EF4-FFF2-40B4-BE49-F238E27FC236}">
                <a16:creationId xmlns:a16="http://schemas.microsoft.com/office/drawing/2014/main" id="{EF451160-B869-4861-A0B9-CE1B08FF04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Can use output file object and </a:t>
            </a:r>
            <a:r>
              <a:rPr lang="en-US" altLang="en-US" dirty="0">
                <a:latin typeface="Courier New" panose="02070309020205020404" pitchFamily="49" charset="0"/>
              </a:rPr>
              <a:t>&lt;&lt;</a:t>
            </a:r>
            <a:r>
              <a:rPr lang="en-US" altLang="en-US" dirty="0"/>
              <a:t> to send data to a file:</a:t>
            </a:r>
          </a:p>
          <a:p>
            <a:pPr lvl="1">
              <a:buFontTx/>
              <a:buNone/>
            </a:pPr>
            <a:r>
              <a:rPr lang="en-US" altLang="en-US" dirty="0"/>
              <a:t>	</a:t>
            </a:r>
            <a:r>
              <a:rPr lang="en-US" altLang="en-US" dirty="0" err="1">
                <a:latin typeface="Courier New" panose="02070309020205020404" pitchFamily="49" charset="0"/>
              </a:rPr>
              <a:t>outfile</a:t>
            </a:r>
            <a:r>
              <a:rPr lang="en-US" altLang="en-US" dirty="0">
                <a:latin typeface="Courier New" panose="02070309020205020404" pitchFamily="49" charset="0"/>
              </a:rPr>
              <a:t> &lt;&lt; "Inventory report";</a:t>
            </a:r>
          </a:p>
          <a:p>
            <a:r>
              <a:rPr lang="en-US" altLang="en-US" dirty="0"/>
              <a:t>Can use input file object and </a:t>
            </a:r>
            <a:r>
              <a:rPr lang="en-US" altLang="en-US" dirty="0">
                <a:latin typeface="Courier New" panose="02070309020205020404" pitchFamily="49" charset="0"/>
              </a:rPr>
              <a:t>&gt;&gt;</a:t>
            </a:r>
            <a:r>
              <a:rPr lang="en-US" altLang="en-US" dirty="0"/>
              <a:t> to copy data from file to variables:</a:t>
            </a:r>
          </a:p>
          <a:p>
            <a:pPr lvl="1">
              <a:buClr>
                <a:schemeClr val="tx1"/>
              </a:buClr>
              <a:buFontTx/>
              <a:buNone/>
            </a:pPr>
            <a:r>
              <a:rPr lang="en-US" altLang="en-US" dirty="0"/>
              <a:t>	</a:t>
            </a:r>
            <a:r>
              <a:rPr lang="en-US" altLang="en-US" dirty="0" err="1">
                <a:latin typeface="Courier New" panose="02070309020205020404" pitchFamily="49" charset="0"/>
              </a:rPr>
              <a:t>infile</a:t>
            </a:r>
            <a:r>
              <a:rPr lang="en-US" altLang="en-US" dirty="0">
                <a:latin typeface="Courier New" panose="02070309020205020404" pitchFamily="49" charset="0"/>
              </a:rPr>
              <a:t> &gt;&gt; </a:t>
            </a:r>
            <a:r>
              <a:rPr lang="en-US" altLang="en-US" dirty="0" err="1">
                <a:latin typeface="Courier New" panose="02070309020205020404" pitchFamily="49" charset="0"/>
              </a:rPr>
              <a:t>partNum</a:t>
            </a:r>
            <a:r>
              <a:rPr lang="en-US" altLang="en-US" dirty="0">
                <a:latin typeface="Courier New" panose="02070309020205020404" pitchFamily="49" charset="0"/>
              </a:rPr>
              <a:t>;</a:t>
            </a:r>
          </a:p>
          <a:p>
            <a:pPr lvl="1">
              <a:buClr>
                <a:schemeClr val="tx1"/>
              </a:buClr>
              <a:buFontTx/>
              <a:buNone/>
            </a:pPr>
            <a:r>
              <a:rPr lang="en-US" altLang="en-US" dirty="0">
                <a:latin typeface="Courier New" panose="02070309020205020404" pitchFamily="49" charset="0"/>
              </a:rPr>
              <a:t>	</a:t>
            </a:r>
            <a:r>
              <a:rPr lang="en-US" altLang="en-US" dirty="0" err="1">
                <a:latin typeface="Courier New" panose="02070309020205020404" pitchFamily="49" charset="0"/>
              </a:rPr>
              <a:t>infile</a:t>
            </a:r>
            <a:r>
              <a:rPr lang="en-US" altLang="en-US" dirty="0">
                <a:latin typeface="Courier New" panose="02070309020205020404" pitchFamily="49" charset="0"/>
              </a:rPr>
              <a:t> &gt;&gt; </a:t>
            </a:r>
            <a:r>
              <a:rPr lang="en-US" altLang="en-US" dirty="0" err="1">
                <a:latin typeface="Courier New" panose="02070309020205020404" pitchFamily="49" charset="0"/>
              </a:rPr>
              <a:t>qtyInStock</a:t>
            </a:r>
            <a:r>
              <a:rPr lang="en-US" altLang="en-US" dirty="0">
                <a:latin typeface="Courier New" panose="02070309020205020404" pitchFamily="49" charset="0"/>
              </a:rPr>
              <a:t> &gt;&gt; </a:t>
            </a:r>
            <a:r>
              <a:rPr lang="en-US" altLang="en-US" dirty="0" err="1">
                <a:latin typeface="Courier New" panose="02070309020205020404" pitchFamily="49" charset="0"/>
              </a:rPr>
              <a:t>qtyOnOrder</a:t>
            </a:r>
            <a:r>
              <a:rPr lang="en-US" altLang="en-US" dirty="0">
                <a:latin typeface="Courier New" panose="02070309020205020404" pitchFamily="49" charset="0"/>
              </a:rPr>
              <a:t>;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60D6F832-C5D3-49CC-91F7-8FC7F4902A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Using Loops to Process Files</a:t>
            </a:r>
          </a:p>
        </p:txBody>
      </p:sp>
      <p:sp>
        <p:nvSpPr>
          <p:cNvPr id="77827" name="Content Placeholder 2" descr="Using loops to process files">
            <a:extLst>
              <a:ext uri="{FF2B5EF4-FFF2-40B4-BE49-F238E27FC236}">
                <a16:creationId xmlns:a16="http://schemas.microsoft.com/office/drawing/2014/main" id="{C3EDAAB0-6073-4274-B001-BEC22BF247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The stream extraction operator </a:t>
            </a:r>
            <a:r>
              <a:rPr lang="en-US" altLang="en-US" dirty="0">
                <a:latin typeface="Courier New" panose="02070309020205020404" pitchFamily="49" charset="0"/>
              </a:rPr>
              <a:t>&gt;&gt;</a:t>
            </a:r>
            <a:r>
              <a:rPr lang="en-US" altLang="en-US" dirty="0"/>
              <a:t> returns </a:t>
            </a:r>
            <a:r>
              <a:rPr lang="en-US" altLang="en-US" dirty="0">
                <a:latin typeface="Courier New" panose="02070309020205020404" pitchFamily="49" charset="0"/>
              </a:rPr>
              <a:t>true</a:t>
            </a:r>
            <a:r>
              <a:rPr lang="en-US" altLang="en-US" dirty="0"/>
              <a:t> when a value was successfully read, </a:t>
            </a:r>
            <a:r>
              <a:rPr lang="en-US" altLang="en-US" dirty="0">
                <a:latin typeface="Courier New" panose="02070309020205020404" pitchFamily="49" charset="0"/>
              </a:rPr>
              <a:t>false</a:t>
            </a:r>
            <a:r>
              <a:rPr lang="en-US" altLang="en-US" dirty="0"/>
              <a:t> otherwise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Can be tested in a </a:t>
            </a:r>
            <a:r>
              <a:rPr lang="en-US" altLang="en-US" dirty="0">
                <a:latin typeface="Courier New" panose="02070309020205020404" pitchFamily="49" charset="0"/>
              </a:rPr>
              <a:t>while</a:t>
            </a:r>
            <a:r>
              <a:rPr lang="en-US" altLang="en-US" dirty="0"/>
              <a:t> loop to continue execution as long as values are read from the file:</a:t>
            </a:r>
          </a:p>
          <a:p>
            <a:pPr lvl="1">
              <a:buFontTx/>
              <a:buNone/>
            </a:pPr>
            <a:r>
              <a:rPr lang="en-US" altLang="en-US" dirty="0"/>
              <a:t>	</a:t>
            </a:r>
            <a:r>
              <a:rPr lang="en-US" altLang="en-US" dirty="0">
                <a:latin typeface="Courier New" panose="02070309020205020404" pitchFamily="49" charset="0"/>
              </a:rPr>
              <a:t>while (inputFile &gt;&gt; number) ...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>
            <a:extLst>
              <a:ext uri="{FF2B5EF4-FFF2-40B4-BE49-F238E27FC236}">
                <a16:creationId xmlns:a16="http://schemas.microsoft.com/office/drawing/2014/main" id="{2CC2787B-EAAC-4E84-8F7F-307AA0AFF2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Closing Files</a:t>
            </a:r>
          </a:p>
        </p:txBody>
      </p:sp>
      <p:sp>
        <p:nvSpPr>
          <p:cNvPr id="78851" name="Content Placeholder 2" descr="Closing files">
            <a:extLst>
              <a:ext uri="{FF2B5EF4-FFF2-40B4-BE49-F238E27FC236}">
                <a16:creationId xmlns:a16="http://schemas.microsoft.com/office/drawing/2014/main" id="{469AC64E-90AA-4DE4-A7BB-AE7526D841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Use the </a:t>
            </a:r>
            <a:r>
              <a:rPr lang="en-US" altLang="en-US" dirty="0">
                <a:latin typeface="Courier New" panose="02070309020205020404" pitchFamily="49" charset="0"/>
              </a:rPr>
              <a:t>close</a:t>
            </a:r>
            <a:r>
              <a:rPr lang="en-US" altLang="en-US" dirty="0"/>
              <a:t> member function: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dirty="0"/>
              <a:t>	</a:t>
            </a:r>
            <a:r>
              <a:rPr lang="en-US" altLang="en-US" dirty="0" err="1">
                <a:latin typeface="Courier New" panose="02070309020205020404" pitchFamily="49" charset="0"/>
              </a:rPr>
              <a:t>infile.close</a:t>
            </a:r>
            <a:r>
              <a:rPr lang="en-US" altLang="en-US" dirty="0">
                <a:latin typeface="Courier New" panose="02070309020205020404" pitchFamily="49" charset="0"/>
              </a:rPr>
              <a:t>();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dirty="0">
                <a:latin typeface="Courier New" panose="02070309020205020404" pitchFamily="49" charset="0"/>
              </a:rPr>
              <a:t>	</a:t>
            </a:r>
            <a:r>
              <a:rPr lang="en-US" altLang="en-US" dirty="0" err="1">
                <a:latin typeface="Courier New" panose="02070309020205020404" pitchFamily="49" charset="0"/>
              </a:rPr>
              <a:t>outfile.close</a:t>
            </a:r>
            <a:r>
              <a:rPr lang="en-US" altLang="en-US" dirty="0">
                <a:latin typeface="Courier New" panose="02070309020205020404" pitchFamily="49" charset="0"/>
              </a:rPr>
              <a:t>();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Don’t wait for operating system to close files at program end: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may be limit on number of open files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may be buffered output data waiting to send to file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>
            <a:extLst>
              <a:ext uri="{FF2B5EF4-FFF2-40B4-BE49-F238E27FC236}">
                <a16:creationId xmlns:a16="http://schemas.microsoft.com/office/drawing/2014/main" id="{15575FC1-F5C4-4278-A2E0-94F31D7067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Letting the User Specify a Filename</a:t>
            </a:r>
          </a:p>
        </p:txBody>
      </p:sp>
      <p:sp>
        <p:nvSpPr>
          <p:cNvPr id="79875" name="Content Placeholder 2" descr="Letting the user specify a file name">
            <a:extLst>
              <a:ext uri="{FF2B5EF4-FFF2-40B4-BE49-F238E27FC236}">
                <a16:creationId xmlns:a16="http://schemas.microsoft.com/office/drawing/2014/main" id="{371BCDB7-4115-4115-85A7-CEB92FEF9F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 many cases, you will want the user to specify the name of a file for the program to open.</a:t>
            </a:r>
          </a:p>
          <a:p>
            <a:r>
              <a:rPr lang="en-US" altLang="en-US" dirty="0"/>
              <a:t>In C++ 11, you can pass a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en-US" dirty="0"/>
              <a:t> object as an argument to a file stream object’s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n-US" altLang="en-US" dirty="0"/>
              <a:t> member function.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6115E-499A-4E12-A172-81F680720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Letting the User Specify a Filename in Program 5-24 (1 of 2)</a:t>
            </a:r>
          </a:p>
        </p:txBody>
      </p:sp>
      <p:pic>
        <p:nvPicPr>
          <p:cNvPr id="80899" name="Picture 3" descr="Lines 1 through 21 of Program 5-24">
            <a:extLst>
              <a:ext uri="{FF2B5EF4-FFF2-40B4-BE49-F238E27FC236}">
                <a16:creationId xmlns:a16="http://schemas.microsoft.com/office/drawing/2014/main" id="{CC2F04A6-77FD-4BEE-AA56-2212DD5EB6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950" y="1600200"/>
            <a:ext cx="6970713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900" name="TextBox 4">
            <a:extLst>
              <a:ext uri="{FF2B5EF4-FFF2-40B4-BE49-F238E27FC236}">
                <a16:creationId xmlns:a16="http://schemas.microsoft.com/office/drawing/2014/main" id="{0655B5CD-E944-4411-9CD7-566BEB090D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6019800"/>
            <a:ext cx="1466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Continued…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F3575-04B2-4C7B-B1C2-8B58952A2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Letting the User Specify a Filename in Program 5-24 (2 of 2)</a:t>
            </a:r>
          </a:p>
        </p:txBody>
      </p:sp>
      <p:pic>
        <p:nvPicPr>
          <p:cNvPr id="81923" name="Picture 2" descr="Lines 22 through 39 of Program 5-24 with sample output">
            <a:extLst>
              <a:ext uri="{FF2B5EF4-FFF2-40B4-BE49-F238E27FC236}">
                <a16:creationId xmlns:a16="http://schemas.microsoft.com/office/drawing/2014/main" id="{2439817A-E229-411B-8BC5-4485E17C20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963" y="1447800"/>
            <a:ext cx="6275387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9EDF2-198F-4610-8C0F-10F5CF067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Using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c_str</a:t>
            </a:r>
            <a:r>
              <a:rPr lang="en-US" dirty="0"/>
              <a:t> Member Function in Older Versions of C++ (1 of 2)</a:t>
            </a:r>
          </a:p>
        </p:txBody>
      </p:sp>
      <p:sp>
        <p:nvSpPr>
          <p:cNvPr id="82947" name="Content Placeholder 2" descr="Using the c_str member function in older versions of C++">
            <a:extLst>
              <a:ext uri="{FF2B5EF4-FFF2-40B4-BE49-F238E27FC236}">
                <a16:creationId xmlns:a16="http://schemas.microsoft.com/office/drawing/2014/main" id="{F1FA9EB1-A218-4C5A-81B9-8C52651820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cs typeface="Courier New" panose="02070309020205020404" pitchFamily="49" charset="0"/>
              </a:rPr>
              <a:t>Prior to C++ 11, 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n-US" altLang="en-US" dirty="0"/>
              <a:t> member function requires that you pass the name of the file as a null-terminated string, which is also known as a </a:t>
            </a:r>
            <a:r>
              <a:rPr lang="en-US" altLang="en-US" i="1" u="sng" dirty="0"/>
              <a:t>C-string</a:t>
            </a:r>
            <a:r>
              <a:rPr lang="en-US" altLang="en-US" i="1" dirty="0"/>
              <a:t>. </a:t>
            </a:r>
          </a:p>
          <a:p>
            <a:r>
              <a:rPr lang="en-US" altLang="en-US" i="1" dirty="0"/>
              <a:t>String literals are stored </a:t>
            </a:r>
            <a:r>
              <a:rPr lang="en-US" altLang="en-US" dirty="0"/>
              <a:t>in memory as null-terminated C-strings, but </a:t>
            </a:r>
            <a:r>
              <a:rPr lang="en-US" altLang="en-US" i="1" u="sng" dirty="0"/>
              <a:t>string objects </a:t>
            </a:r>
            <a:r>
              <a:rPr lang="en-US" altLang="en-US" dirty="0"/>
              <a:t>are </a:t>
            </a:r>
            <a:r>
              <a:rPr lang="en-US" altLang="en-US" b="1" dirty="0"/>
              <a:t>not</a:t>
            </a:r>
            <a:r>
              <a:rPr lang="en-US" altLang="en-US" dirty="0"/>
              <a:t>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Using the c_str member function in older versions of C++">
            <a:extLst>
              <a:ext uri="{FF2B5EF4-FFF2-40B4-BE49-F238E27FC236}">
                <a16:creationId xmlns:a16="http://schemas.microsoft.com/office/drawing/2014/main" id="{A1EB2695-504D-4409-AD43-E9DE04F40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Using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c_str</a:t>
            </a:r>
            <a:r>
              <a:rPr lang="en-US" dirty="0"/>
              <a:t> Member Function in Older Versions of C++ (2 of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640B8-7090-43B3-8F6F-A86BFA039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string</a:t>
            </a:r>
            <a:r>
              <a:rPr lang="en-US" sz="2400" dirty="0"/>
              <a:t> objects have a member function named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c_str</a:t>
            </a:r>
            <a:r>
              <a:rPr lang="en-US" sz="2400" dirty="0"/>
              <a:t> </a:t>
            </a:r>
          </a:p>
          <a:p>
            <a:pPr lvl="1">
              <a:defRPr/>
            </a:pPr>
            <a:r>
              <a:rPr lang="en-US" sz="2400" dirty="0">
                <a:ea typeface="+mn-ea"/>
              </a:rPr>
              <a:t>It returns the contents of the object formatted as a null-terminated C-string. </a:t>
            </a:r>
          </a:p>
          <a:p>
            <a:pPr lvl="1">
              <a:defRPr/>
            </a:pPr>
            <a:r>
              <a:rPr lang="en-US" sz="2400" dirty="0">
                <a:ea typeface="+mn-ea"/>
              </a:rPr>
              <a:t>Here is the general format of how you call the </a:t>
            </a:r>
            <a:r>
              <a:rPr lang="en-US" sz="2400" dirty="0" err="1">
                <a:latin typeface="Courier New" pitchFamily="49" charset="0"/>
                <a:ea typeface="+mn-ea"/>
                <a:cs typeface="Courier New" pitchFamily="49" charset="0"/>
              </a:rPr>
              <a:t>c_str</a:t>
            </a:r>
            <a:r>
              <a:rPr lang="en-US" sz="2400" dirty="0">
                <a:ea typeface="+mn-ea"/>
              </a:rPr>
              <a:t> function:</a:t>
            </a:r>
            <a:r>
              <a:rPr lang="en-US" sz="2400" i="1" dirty="0"/>
              <a:t> </a:t>
            </a:r>
          </a:p>
          <a:p>
            <a:pPr>
              <a:buFontTx/>
              <a:buNone/>
              <a:defRPr/>
            </a:pPr>
            <a:r>
              <a:rPr lang="en-US" i="1" dirty="0">
                <a:latin typeface="Courier New" pitchFamily="49" charset="0"/>
                <a:cs typeface="Courier New" pitchFamily="49" charset="0"/>
              </a:rPr>
              <a:t>		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stringObject.c_str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>
              <a:buFontTx/>
              <a:buNone/>
              <a:defRPr/>
            </a:pPr>
            <a:endParaRPr lang="en-US" sz="1000" dirty="0">
              <a:latin typeface="Courier New" pitchFamily="49" charset="0"/>
              <a:cs typeface="Courier New" pitchFamily="49" charset="0"/>
            </a:endParaRPr>
          </a:p>
          <a:p>
            <a:pPr marL="857250" lvl="2" indent="-457200">
              <a:defRPr/>
            </a:pPr>
            <a:r>
              <a:rPr lang="en-US" dirty="0"/>
              <a:t>Line 18 in Program 5-24 could be rewritten in the following manner:</a:t>
            </a:r>
          </a:p>
          <a:p>
            <a:pPr marL="400050" lvl="2" indent="0">
              <a:buFontTx/>
              <a:buNone/>
              <a:defRPr/>
            </a:pPr>
            <a:endParaRPr lang="en-US" dirty="0"/>
          </a:p>
          <a:p>
            <a:pPr marL="400050" lvl="2" indent="0">
              <a:buFontTx/>
              <a:buNone/>
              <a:defRPr/>
            </a:pPr>
            <a:r>
              <a:rPr lang="en-US" dirty="0"/>
              <a:t>	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inputFile.open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filename.c_str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());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>
            <a:extLst>
              <a:ext uri="{FF2B5EF4-FFF2-40B4-BE49-F238E27FC236}">
                <a16:creationId xmlns:a16="http://schemas.microsoft.com/office/drawing/2014/main" id="{66E7B4AC-0272-476E-B315-1051AA44F5C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5.12</a:t>
            </a:r>
          </a:p>
        </p:txBody>
      </p:sp>
      <p:sp>
        <p:nvSpPr>
          <p:cNvPr id="84995" name="Subtitle 2">
            <a:extLst>
              <a:ext uri="{FF2B5EF4-FFF2-40B4-BE49-F238E27FC236}">
                <a16:creationId xmlns:a16="http://schemas.microsoft.com/office/drawing/2014/main" id="{420F5E36-38EC-4E29-951E-00A26DE8D6B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Breaking and Continuing a Loop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itle 1">
            <a:extLst>
              <a:ext uri="{FF2B5EF4-FFF2-40B4-BE49-F238E27FC236}">
                <a16:creationId xmlns:a16="http://schemas.microsoft.com/office/drawing/2014/main" id="{248C64BB-335E-4355-B35E-35771B9107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Breaking Out of a Loop</a:t>
            </a:r>
          </a:p>
        </p:txBody>
      </p:sp>
      <p:sp>
        <p:nvSpPr>
          <p:cNvPr id="86019" name="Content Placeholder 2" descr="Breaking out of a loop">
            <a:extLst>
              <a:ext uri="{FF2B5EF4-FFF2-40B4-BE49-F238E27FC236}">
                <a16:creationId xmlns:a16="http://schemas.microsoft.com/office/drawing/2014/main" id="{93467CC9-3A65-46C4-A2A0-BAF2DB5436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Can use </a:t>
            </a:r>
            <a:r>
              <a:rPr lang="en-US" altLang="en-US" dirty="0">
                <a:latin typeface="Courier New" panose="02070309020205020404" pitchFamily="49" charset="0"/>
              </a:rPr>
              <a:t>break</a:t>
            </a:r>
            <a:r>
              <a:rPr lang="en-US" altLang="en-US" dirty="0"/>
              <a:t> to terminate execution of a loop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Use sparingly if at all – makes code harder to understand and debug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When used in an inner loop, terminates that loop only and goes back to outer loop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itle 1">
            <a:extLst>
              <a:ext uri="{FF2B5EF4-FFF2-40B4-BE49-F238E27FC236}">
                <a16:creationId xmlns:a16="http://schemas.microsoft.com/office/drawing/2014/main" id="{941945F3-6EE9-4631-953A-9D40A39AE1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continue</a:t>
            </a:r>
            <a:r>
              <a:rPr lang="en-US" altLang="en-US"/>
              <a:t> Statement</a:t>
            </a:r>
          </a:p>
        </p:txBody>
      </p:sp>
      <p:sp>
        <p:nvSpPr>
          <p:cNvPr id="87043" name="Content Placeholder 2" descr="The continue statement">
            <a:extLst>
              <a:ext uri="{FF2B5EF4-FFF2-40B4-BE49-F238E27FC236}">
                <a16:creationId xmlns:a16="http://schemas.microsoft.com/office/drawing/2014/main" id="{37E0C40F-CB39-4C8A-8669-C613B6A475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Can use </a:t>
            </a:r>
            <a:r>
              <a:rPr lang="en-US" altLang="en-US" dirty="0">
                <a:latin typeface="Courier New" panose="02070309020205020404" pitchFamily="49" charset="0"/>
              </a:rPr>
              <a:t>continue</a:t>
            </a:r>
            <a:r>
              <a:rPr lang="en-US" altLang="en-US" dirty="0"/>
              <a:t> to go to end of loop and prepare for next repetition</a:t>
            </a:r>
          </a:p>
          <a:p>
            <a:pPr lvl="1"/>
            <a:r>
              <a:rPr lang="en-US" altLang="en-US" dirty="0"/>
              <a:t> </a:t>
            </a:r>
            <a:r>
              <a:rPr lang="en-US" altLang="en-US" dirty="0">
                <a:latin typeface="Courier New" panose="02070309020205020404" pitchFamily="49" charset="0"/>
              </a:rPr>
              <a:t>while</a:t>
            </a:r>
            <a:r>
              <a:rPr lang="en-US" altLang="en-US" dirty="0"/>
              <a:t>, </a:t>
            </a:r>
            <a:r>
              <a:rPr lang="en-US" altLang="en-US" dirty="0">
                <a:latin typeface="Courier New" panose="02070309020205020404" pitchFamily="49" charset="0"/>
              </a:rPr>
              <a:t>do-while</a:t>
            </a:r>
            <a:r>
              <a:rPr lang="en-US" altLang="en-US" dirty="0"/>
              <a:t> loops: go to test, repeat loop if test passes</a:t>
            </a:r>
          </a:p>
          <a:p>
            <a:pPr lvl="1"/>
            <a:r>
              <a:rPr lang="en-US" altLang="en-US" dirty="0"/>
              <a:t> </a:t>
            </a:r>
            <a:r>
              <a:rPr lang="en-US" altLang="en-US" dirty="0">
                <a:latin typeface="Courier New" panose="02070309020205020404" pitchFamily="49" charset="0"/>
              </a:rPr>
              <a:t>for</a:t>
            </a:r>
            <a:r>
              <a:rPr lang="en-US" altLang="en-US" dirty="0"/>
              <a:t> loop: perform update step, then test, then repeat loop if test passes</a:t>
            </a:r>
          </a:p>
          <a:p>
            <a:r>
              <a:rPr lang="en-US" altLang="en-US" dirty="0"/>
              <a:t>Use sparingly – like </a:t>
            </a:r>
            <a:r>
              <a:rPr lang="en-US" altLang="en-US" dirty="0">
                <a:latin typeface="Courier New" panose="02070309020205020404" pitchFamily="49" charset="0"/>
              </a:rPr>
              <a:t>break</a:t>
            </a:r>
            <a:r>
              <a:rPr lang="en-US" altLang="en-US" dirty="0"/>
              <a:t>, can make program logic hard to follow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697</TotalTime>
  <Words>2734</Words>
  <Application>Microsoft Office PowerPoint</Application>
  <PresentationFormat>On-screen Show (4:3)</PresentationFormat>
  <Paragraphs>295</Paragraphs>
  <Slides>82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7" baseType="lpstr">
      <vt:lpstr>Arial</vt:lpstr>
      <vt:lpstr>Courier New</vt:lpstr>
      <vt:lpstr>Times</vt:lpstr>
      <vt:lpstr>Times New Roman</vt:lpstr>
      <vt:lpstr>Default Design</vt:lpstr>
      <vt:lpstr>Chapter 5: Loops and Files</vt:lpstr>
      <vt:lpstr>The Increment and Decrement Operators (1 of 2)</vt:lpstr>
      <vt:lpstr>The Increment and Decrement Operators (2 of 2)</vt:lpstr>
      <vt:lpstr>Increment and Decrement Operators in Program 5-1 (1 of 2)</vt:lpstr>
      <vt:lpstr>Increment and Decrement Operators in Program 5-1 (2 of 2)</vt:lpstr>
      <vt:lpstr>Prefix vs. Postfix</vt:lpstr>
      <vt:lpstr>Prefix vs. Postfix - Examples</vt:lpstr>
      <vt:lpstr>Notes on Increment and Decrement</vt:lpstr>
      <vt:lpstr>5.2</vt:lpstr>
      <vt:lpstr>Introduction to Loops:  The while Loop</vt:lpstr>
      <vt:lpstr>The while Loop – How It Works</vt:lpstr>
      <vt:lpstr>The Logic of a while Loop</vt:lpstr>
      <vt:lpstr>The while loop in Program 5-3</vt:lpstr>
      <vt:lpstr>How the while Loop in Program 5-3 Lines 9 through 13 Works </vt:lpstr>
      <vt:lpstr>Flowchart of the while Loop in Program 5-3</vt:lpstr>
      <vt:lpstr>The while Loop is a Pretest Loop</vt:lpstr>
      <vt:lpstr>Watch Out for Infinite Loops</vt:lpstr>
      <vt:lpstr>Example of an Infinite Loop</vt:lpstr>
      <vt:lpstr>5.3</vt:lpstr>
      <vt:lpstr>Using the while Loop for Input Validation (1 of 2)</vt:lpstr>
      <vt:lpstr>Using the while Loop for Input Validation (2 of 2)</vt:lpstr>
      <vt:lpstr>Input Validation Example</vt:lpstr>
      <vt:lpstr>Flowchart for Input Validation</vt:lpstr>
      <vt:lpstr>Input Validation in Program 5-5</vt:lpstr>
      <vt:lpstr>5.4</vt:lpstr>
      <vt:lpstr>Counters</vt:lpstr>
      <vt:lpstr>A Counter Variable Controls the Loop in Program 5-6 (1 of 2)</vt:lpstr>
      <vt:lpstr>A Counter Variable Controls the Loop in Program 5-6 (2 of 2)</vt:lpstr>
      <vt:lpstr>5.5</vt:lpstr>
      <vt:lpstr>The do-while Loop</vt:lpstr>
      <vt:lpstr>The Logic of a do-while Loop</vt:lpstr>
      <vt:lpstr>An Example do-while Loop</vt:lpstr>
      <vt:lpstr>A do-while Loop in Program 5-7 (1 of 2)</vt:lpstr>
      <vt:lpstr>A do-while Loop in Program 5-7 (2 of 2)</vt:lpstr>
      <vt:lpstr>do-while Loop Notes</vt:lpstr>
      <vt:lpstr>5.6</vt:lpstr>
      <vt:lpstr>The for Loop</vt:lpstr>
      <vt:lpstr>for Loop - Mechanics</vt:lpstr>
      <vt:lpstr>for Loop - Example</vt:lpstr>
      <vt:lpstr>A Closer Look at the Previous Example</vt:lpstr>
      <vt:lpstr>Flowchart for the Previous Example</vt:lpstr>
      <vt:lpstr>A for Loop in Program 5-9 (1 of 2)</vt:lpstr>
      <vt:lpstr>A for Loop in Program 5-9 (2 of 2)</vt:lpstr>
      <vt:lpstr>A Closer Look at Lines 15 through 16 in Program 5-9</vt:lpstr>
      <vt:lpstr>Flowchart for Lines 15 through 16 in Program 5-9</vt:lpstr>
      <vt:lpstr>When to Use the for Loop</vt:lpstr>
      <vt:lpstr>The for Loop is a Pretest Loop</vt:lpstr>
      <vt:lpstr>for Loop – Modifications (1 of 4)</vt:lpstr>
      <vt:lpstr>for Loop – Modifications (2 of 4)</vt:lpstr>
      <vt:lpstr>for Loop – Modifications (3 of 4)</vt:lpstr>
      <vt:lpstr>for Loop – Modifications (4 of 4)</vt:lpstr>
      <vt:lpstr>5.7</vt:lpstr>
      <vt:lpstr>Keeping a Running Total</vt:lpstr>
      <vt:lpstr>Logic for Keeping a Running Total</vt:lpstr>
      <vt:lpstr>A Running Total in Program 5-12 (1 of 2)</vt:lpstr>
      <vt:lpstr>A Running Total in Program 5-12 (2 of 2)</vt:lpstr>
      <vt:lpstr>5.8</vt:lpstr>
      <vt:lpstr>Sentinels</vt:lpstr>
      <vt:lpstr>A Sentinel in Program 5-13 (1 of 2)</vt:lpstr>
      <vt:lpstr>A Sentinel in Program 5-13 (2 of 2)</vt:lpstr>
      <vt:lpstr>5.9</vt:lpstr>
      <vt:lpstr>Deciding Which Loop to Use</vt:lpstr>
      <vt:lpstr>5.10</vt:lpstr>
      <vt:lpstr>Nested Loops</vt:lpstr>
      <vt:lpstr>Nested for Loop in Program 5-14</vt:lpstr>
      <vt:lpstr>Nested Loops - Notes</vt:lpstr>
      <vt:lpstr>5.11</vt:lpstr>
      <vt:lpstr>Using Files for Data Storage</vt:lpstr>
      <vt:lpstr>Files: What is Needed</vt:lpstr>
      <vt:lpstr>Opening Files</vt:lpstr>
      <vt:lpstr>Testing for File Open Errors</vt:lpstr>
      <vt:lpstr>Using Files</vt:lpstr>
      <vt:lpstr>Using Loops to Process Files</vt:lpstr>
      <vt:lpstr>Closing Files</vt:lpstr>
      <vt:lpstr>Letting the User Specify a Filename</vt:lpstr>
      <vt:lpstr>Letting the User Specify a Filename in Program 5-24 (1 of 2)</vt:lpstr>
      <vt:lpstr>Letting the User Specify a Filename in Program 5-24 (2 of 2)</vt:lpstr>
      <vt:lpstr>Using the c_str Member Function in Older Versions of C++ (1 of 2)</vt:lpstr>
      <vt:lpstr>Using the c_str Member Function in Older Versions of C++ (2 of 2)</vt:lpstr>
      <vt:lpstr>5.12</vt:lpstr>
      <vt:lpstr>Breaking Out of a Loop</vt:lpstr>
      <vt:lpstr>The continue Statement</vt:lpstr>
    </vt:vector>
  </TitlesOfParts>
  <Company>PEARSON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</dc:title>
  <dc:subject>Introduction to C++</dc:subject>
  <dc:creator>Tony Gaddis</dc:creator>
  <cp:lastModifiedBy>George Driscoll</cp:lastModifiedBy>
  <cp:revision>109</cp:revision>
  <dcterms:created xsi:type="dcterms:W3CDTF">2011-02-16T20:47:20Z</dcterms:created>
  <dcterms:modified xsi:type="dcterms:W3CDTF">2020-09-16T10:03:00Z</dcterms:modified>
</cp:coreProperties>
</file>